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7e2cef8e-fef9-f5f2-36b7-fec0445e4b6f}">
          <p14:sldIdLst>
            <p14:sldId id="256"/>
            <p14:sldId id="257"/>
          </p14:sldIdLst>
        </p14:section>
        <p14:section name="Objectives" id="{c50b397e-1780-c096-30d7-242d571e9733}">
          <p14:sldIdLst>
            <p14:sldId id="258"/>
            <p14:sldId id="259"/>
          </p14:sldIdLst>
        </p14:section>
        <p14:section name="Dataset" id="{6274f6aa-5625-4221-fde1-0a86f6cbad9c}">
          <p14:sldIdLst>
            <p14:sldId id="260"/>
            <p14:sldId id="261"/>
            <p14:sldId id="262"/>
            <p14:sldId id="263"/>
          </p14:sldIdLst>
        </p14:section>
        <p14:section name="Methodology" id="{6d92a73c-6716-63ca-1017-987f5b9f6cb9}">
          <p14:sldIdLst>
            <p14:sldId id="264"/>
            <p14:sldId id="265"/>
            <p14:sldId id="266"/>
            <p14:sldId id="267"/>
            <p14:sldId id="268"/>
          </p14:sldIdLst>
        </p14:section>
        <p14:section name="Plan" id="{ac18b7bd-0bed-a132-07c5-3b1b95c8e858}">
          <p14:sldIdLst>
            <p14:sldId id="269"/>
          </p14:sldIdLst>
        </p14:section>
        <p14:section name="Close" id="{d691c037-e364-af23-05da-504c4232b64a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C5F2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C5F2D"/>
                </a:solidFill>
                <a:latin typeface="+mn-lt"/>
              </a:rPr>
              <a:t>Images per source block (approx.)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Images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86C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86C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E86C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E86C1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E86C1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E86C1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Wild snakes (iNaturalist-style)</c:v>
                  </c:pt>
                  <c:pt idx="1">
                    <c:v>Snakes (Roboflow 1080²)</c:v>
                  </c:pt>
                  <c:pt idx="2">
                    <c:v>Belts</c:v>
                  </c:pt>
                  <c:pt idx="3">
                    <c:v>Mangrove roots</c:v>
                  </c:pt>
                  <c:pt idx="4">
                    <c:v>Pipes</c:v>
                  </c:pt>
                  <c:pt idx="5">
                    <c:v>Fire-hose cabinets</c:v>
                  </c:pt>
                  <c:pt idx="6">
                    <c:v>Fallen trees, roots</c:v>
                  </c:pt>
                  <c:pt idx="7">
                    <c:v>Underwater pipes, ropes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13700</c:v>
                </c:pt>
                <c:pt idx="1">
                  <c:v>1512</c:v>
                </c:pt>
                <c:pt idx="2">
                  <c:v>2900</c:v>
                </c:pt>
                <c:pt idx="3">
                  <c:v>1220</c:v>
                </c:pt>
                <c:pt idx="4">
                  <c:v>1170</c:v>
                </c:pt>
                <c:pt idx="5">
                  <c:v>1150</c:v>
                </c:pt>
                <c:pt idx="6">
                  <c:v>820</c:v>
                </c:pt>
                <c:pt idx="7">
                  <c:v>600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A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2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C5F2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C5F2D"/>
                </a:solidFill>
                <a:latin typeface="+mn-lt"/>
              </a:rPr>
              <a:t>Annotated objects per split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snake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Train</c:v>
                  </c:pt>
                  <c:pt idx="1">
                    <c:v>Validation</c:v>
                  </c:pt>
                  <c:pt idx="2">
                    <c:v>Test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12086</c:v>
                </c:pt>
                <c:pt idx="1">
                  <c:v>1138</c:v>
                </c:pt>
                <c:pt idx="2">
                  <c:v>569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look-alike</c:v>
                </c:pt>
              </c:strCache>
            </c:strRef>
          </c:tx>
          <c:spPr>
            <a:solidFill>
              <a:srgbClr val="2E86C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Train</c:v>
                  </c:pt>
                  <c:pt idx="1">
                    <c:v>Validation</c:v>
                  </c:pt>
                  <c:pt idx="2">
                    <c:v>Test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9394</c:v>
                </c:pt>
                <c:pt idx="1">
                  <c:v>1370</c:v>
                </c:pt>
                <c:pt idx="2">
                  <c:v>380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A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2A2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and the three topics of this review: objectives, the dataset and how we selected and understood it, and the complete methodology.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Snakebite is a major hazard for farmers. Existing systems are trained on snake-only data and none explains its decisions. Our system adds an explicit look-alike class and a validated explainability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sentence aim, then three pillars. The key word is validate: we do not trust a heatmap because it looks plausible; we test it quantitatively.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objectives, each with a measurable success criterion (details in the report, Table 2.1). O1–O7 are Member A's detector and pipeline work; O8 is Member B's venom classifier.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public dataset has natural snakes plus an explicit class of look-alikes at this scale, so we merged public sources. This directly addresses the dataset gap from the literature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Images were renamed during merging, so we reconstructed the composition from the data: each source shows up as a block of image IDs with one fixed resolution. Exact links are in report/dataset_sources.md.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look-alikes sampled across the ID range; the source blocks are visible (belts, fallen trees, hose cabinets, pipes, mangrove roots, ropes). Right: snakes, with many species and backgrounds.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23,307 images, 24,937 objects. Both classes are present in every split (55 : 45). Labels are YOLO format: mostly boxes, about a quarter polygons, which we later use as precise masks for XAI.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stages from the proposal, with the explainability and validation layer attached to the safety-critical Detect stage. The validated method feeds back into the device as its default explainer.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Nano model for an embedded wearable: 2.58 M parameters. Three output scales; P3 sees small objects, P5 large ones. The model is frozen for the XAI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YOLO outputs hundreds of boxes, so we define one score per detection: the best overlap-times-probability among all raw predictions. It equals the detection's confidence and follows the object when the image is perturbed. Every method explains this same score. Three independent families cross-check each other; random and box-prior baselines tell us whether a method beats chance or just highlights the box. SHAP and LIME are set aside because they assume single-label classification.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explanation is judged by tests, not by how plausible it looks. Faithfulness is the main axis; the others check localisation, agreement, sanity, stability and cost. Means come with 95 % bootstrap intervals and paired Wilcoxon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proposal's stages around the detector. Safety bias in conflict resolution; temporal confirmation against one-frame false alarms; proximity from box size because the device has no depth sensor; one 0–100 threat score drives the beep 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clear about what is not in this phase: no retraining, no hardware build, no field trials. The detector is frozen so the XAI work explains a fixed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Prepared answers to likely questions are in Chapter 5 of the Review-2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337560"/>
            <a:ext cx="1109441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rgbClr val="1B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920240" y="2606040"/>
            <a:ext cx="91440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920240" y="3520440"/>
            <a:ext cx="91440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SnakeGuard · Review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SnakeGuard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3375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Explainable snake vs. look-alike detection for an ankle-worn early-warning system</a:t>
            </a:r>
            <a:endParaRPr lang="en-US" sz="2000" dirty="0"/>
          </a:p>
        </p:txBody>
      </p:sp>
      <p:sp>
        <p:nvSpPr>
          <p:cNvPr id="4" name="text_1"/>
          <p:cNvSpPr txBox="1"/>
          <p:nvPr/>
        </p:nvSpPr>
        <p:spPr>
          <a:xfrm>
            <a:off x="548640" y="4754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Review 2 · Objectives · Dataset Selection &amp; Understanding · Methodology</a:t>
            </a:r>
            <a:endParaRPr lang="en-US" sz="1600" dirty="0"/>
          </a:p>
        </p:txBody>
      </p:sp>
      <p:sp>
        <p:nvSpPr>
          <p:cNvPr id="5" name="text_2"/>
          <p:cNvSpPr txBox="1"/>
          <p:nvPr/>
        </p:nvSpPr>
        <p:spPr>
          <a:xfrm>
            <a:off x="548640" y="5166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Jay Vishal Parikh (24BAI0143)  ·  Fida M S (24BAI0180)   |   October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Why SnakeGuard</a:t>
            </a:r>
            <a:endParaRPr lang="en-US" sz="3200" dirty="0"/>
          </a:p>
        </p:txBody>
      </p:sp>
      <p:sp>
        <p:nvSpPr>
          <p:cNvPr id="4" name="card_3"/>
          <p:cNvSpPr/>
          <p:nvPr/>
        </p:nvSpPr>
        <p:spPr>
          <a:xfrm>
            <a:off x="548640" y="1417320"/>
            <a:ext cx="26060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_4"/>
          <p:cNvSpPr txBox="1"/>
          <p:nvPr/>
        </p:nvSpPr>
        <p:spPr>
          <a:xfrm>
            <a:off x="777240" y="16459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M</a:t>
            </a:r>
            <a:endParaRPr lang="en-US" sz="4400" dirty="0"/>
          </a:p>
        </p:txBody>
      </p:sp>
      <p:sp>
        <p:nvSpPr>
          <p:cNvPr id="6" name="text_5"/>
          <p:cNvSpPr txBox="1"/>
          <p:nvPr/>
        </p:nvSpPr>
        <p:spPr>
          <a:xfrm>
            <a:off x="777240" y="2606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snakebites per year worldwide (WHO)</a:t>
            </a:r>
            <a:endParaRPr lang="en-US" sz="1400" dirty="0"/>
          </a:p>
        </p:txBody>
      </p:sp>
      <p:sp>
        <p:nvSpPr>
          <p:cNvPr id="7" name="card_6"/>
          <p:cNvSpPr/>
          <p:nvPr/>
        </p:nvSpPr>
        <p:spPr>
          <a:xfrm>
            <a:off x="3355848" y="1417320"/>
            <a:ext cx="26060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_7"/>
          <p:cNvSpPr txBox="1"/>
          <p:nvPr/>
        </p:nvSpPr>
        <p:spPr>
          <a:xfrm>
            <a:off x="3584448" y="16459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138 k</a:t>
            </a:r>
            <a:endParaRPr lang="en-US" sz="4400" dirty="0"/>
          </a:p>
        </p:txBody>
      </p:sp>
      <p:sp>
        <p:nvSpPr>
          <p:cNvPr id="9" name="text_8"/>
          <p:cNvSpPr txBox="1"/>
          <p:nvPr/>
        </p:nvSpPr>
        <p:spPr>
          <a:xfrm>
            <a:off x="3584448" y="2606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deaths per year, mostly rural farmers</a:t>
            </a:r>
            <a:endParaRPr lang="en-US" sz="1400" dirty="0"/>
          </a:p>
        </p:txBody>
      </p:sp>
      <p:sp>
        <p:nvSpPr>
          <p:cNvPr id="10" name="card_9"/>
          <p:cNvSpPr/>
          <p:nvPr/>
        </p:nvSpPr>
        <p:spPr>
          <a:xfrm>
            <a:off x="6163056" y="1417320"/>
            <a:ext cx="26060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_10"/>
          <p:cNvSpPr txBox="1"/>
          <p:nvPr/>
        </p:nvSpPr>
        <p:spPr>
          <a:xfrm>
            <a:off x="6391656" y="16459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of 8</a:t>
            </a:r>
            <a:endParaRPr lang="en-US" sz="4400" dirty="0"/>
          </a:p>
        </p:txBody>
      </p:sp>
      <p:sp>
        <p:nvSpPr>
          <p:cNvPr id="12" name="text_11"/>
          <p:cNvSpPr txBox="1"/>
          <p:nvPr/>
        </p:nvSpPr>
        <p:spPr>
          <a:xfrm>
            <a:off x="6391656" y="2606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prior systems train on snake-only data</a:t>
            </a:r>
            <a:endParaRPr lang="en-US" sz="1400" dirty="0"/>
          </a:p>
        </p:txBody>
      </p:sp>
      <p:sp>
        <p:nvSpPr>
          <p:cNvPr id="13" name="card_12"/>
          <p:cNvSpPr/>
          <p:nvPr/>
        </p:nvSpPr>
        <p:spPr>
          <a:xfrm>
            <a:off x="8970264" y="1417320"/>
            <a:ext cx="26060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_13"/>
          <p:cNvSpPr txBox="1"/>
          <p:nvPr/>
        </p:nvSpPr>
        <p:spPr>
          <a:xfrm>
            <a:off x="9198864" y="16459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of 8</a:t>
            </a:r>
            <a:endParaRPr lang="en-US" sz="4400" dirty="0"/>
          </a:p>
        </p:txBody>
      </p:sp>
      <p:sp>
        <p:nvSpPr>
          <p:cNvPr id="15" name="text_14"/>
          <p:cNvSpPr txBox="1"/>
          <p:nvPr/>
        </p:nvSpPr>
        <p:spPr>
          <a:xfrm>
            <a:off x="9198864" y="2606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prior systems explain what the detector looks at</a:t>
            </a:r>
            <a:endParaRPr lang="en-US" sz="1400" dirty="0"/>
          </a:p>
        </p:txBody>
      </p:sp>
      <p:sp>
        <p:nvSpPr>
          <p:cNvPr id="16" name="text_15"/>
          <p:cNvSpPr txBox="1"/>
          <p:nvPr/>
        </p:nvSpPr>
        <p:spPr>
          <a:xfrm>
            <a:off x="548640" y="39319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Gap 1 – Data: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detectors never see ropes, roots or hoses, so they alarm on a garden hose as readily as on a viper.</a:t>
            </a:r>
            <a:endParaRPr lang="en-US" sz="1500" dirty="0"/>
          </a:p>
        </p:txBody>
      </p:sp>
      <p:sp>
        <p:nvSpPr>
          <p:cNvPr id="17" name="text_16"/>
          <p:cNvSpPr txBox="1"/>
          <p:nvPr/>
        </p:nvSpPr>
        <p:spPr>
          <a:xfrm>
            <a:off x="548640" y="45262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Gap 2 – Trust: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bare confidence score cannot reveal a spurious correlation or explain a failure. A warning device nobody trusts is one nobody keeps wearing.</a:t>
            </a:r>
            <a:endParaRPr lang="en-US" sz="1500" dirty="0"/>
          </a:p>
        </p:txBody>
      </p:sp>
      <p:sp>
        <p:nvSpPr>
          <p:cNvPr id="18" name="text_17"/>
          <p:cNvSpPr txBox="1"/>
          <p:nvPr/>
        </p:nvSpPr>
        <p:spPr>
          <a:xfrm>
            <a:off x="548640" y="52578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SnakeGuard: 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ankle camera → detect snake vs. look-alike → classify venom → estimate proximity → glanceless beep, with an explainability layer that validates the detector.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Aim: detect, explain, validate</a:t>
            </a:r>
            <a:endParaRPr lang="en-US" sz="3200" dirty="0"/>
          </a:p>
        </p:txBody>
      </p:sp>
      <p:sp>
        <p:nvSpPr>
          <p:cNvPr id="4" name="card_18"/>
          <p:cNvSpPr/>
          <p:nvPr/>
        </p:nvSpPr>
        <p:spPr>
          <a:xfrm>
            <a:off x="548640" y="1325880"/>
            <a:ext cx="11094415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_19"/>
          <p:cNvSpPr txBox="1"/>
          <p:nvPr/>
        </p:nvSpPr>
        <p:spPr>
          <a:xfrm>
            <a:off x="822960" y="146304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tx2"/>
                </a:solidFill>
              </a:rPr>
              <a:t>Build a trustworthy snake-detection pipeline for a wearable device that separates real snakes from look-alikes, explains every detection, and quantitatively validates which explanation method can be trusted before deployment.</a:t>
            </a:r>
            <a:endParaRPr lang="en-US" sz="1800" dirty="0"/>
          </a:p>
        </p:txBody>
      </p:sp>
      <p:sp>
        <p:nvSpPr>
          <p:cNvPr id="6" name="card_20"/>
          <p:cNvSpPr/>
          <p:nvPr/>
        </p:nvSpPr>
        <p:spPr>
          <a:xfrm>
            <a:off x="548640" y="2697480"/>
            <a:ext cx="3520440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circle_21"/>
          <p:cNvSpPr/>
          <p:nvPr/>
        </p:nvSpPr>
        <p:spPr>
          <a:xfrm>
            <a:off x="822960" y="292608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circlelabel_22"/>
          <p:cNvSpPr txBox="1"/>
          <p:nvPr/>
        </p:nvSpPr>
        <p:spPr>
          <a:xfrm>
            <a:off x="822960" y="2926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_23"/>
          <p:cNvSpPr txBox="1"/>
          <p:nvPr/>
        </p:nvSpPr>
        <p:spPr>
          <a:xfrm>
            <a:off x="822960" y="3749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</a:t>
            </a:r>
            <a:endParaRPr lang="en-US" sz="2200" dirty="0"/>
          </a:p>
        </p:txBody>
      </p:sp>
      <p:sp>
        <p:nvSpPr>
          <p:cNvPr id="10" name="text_24"/>
          <p:cNvSpPr txBox="1"/>
          <p:nvPr/>
        </p:nvSpPr>
        <p:spPr>
          <a:xfrm>
            <a:off x="822960" y="425196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Lightweight YOLO11n detector trained on snakes and an explicit look-alike class (ropes, roots, hoses, pipes, belts).</a:t>
            </a:r>
            <a:endParaRPr lang="en-US" sz="1500" dirty="0"/>
          </a:p>
        </p:txBody>
      </p:sp>
      <p:sp>
        <p:nvSpPr>
          <p:cNvPr id="11" name="card_25"/>
          <p:cNvSpPr/>
          <p:nvPr/>
        </p:nvSpPr>
        <p:spPr>
          <a:xfrm>
            <a:off x="4279392" y="2697480"/>
            <a:ext cx="3520440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circle_26"/>
          <p:cNvSpPr/>
          <p:nvPr/>
        </p:nvSpPr>
        <p:spPr>
          <a:xfrm>
            <a:off x="4553712" y="292608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circlelabel_27"/>
          <p:cNvSpPr txBox="1"/>
          <p:nvPr/>
        </p:nvSpPr>
        <p:spPr>
          <a:xfrm>
            <a:off x="4553712" y="2926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_28"/>
          <p:cNvSpPr txBox="1"/>
          <p:nvPr/>
        </p:nvSpPr>
        <p:spPr>
          <a:xfrm>
            <a:off x="4553712" y="3749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</a:t>
            </a:r>
            <a:endParaRPr lang="en-US" sz="2200" dirty="0"/>
          </a:p>
        </p:txBody>
      </p:sp>
      <p:sp>
        <p:nvSpPr>
          <p:cNvPr id="15" name="text_29"/>
          <p:cNvSpPr txBox="1"/>
          <p:nvPr/>
        </p:nvSpPr>
        <p:spPr>
          <a:xfrm>
            <a:off x="4553712" y="425196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Several independent XAI families explain each detection: activation, gradient (multi-scale) and perturbation methods.</a:t>
            </a:r>
            <a:endParaRPr lang="en-US" sz="1500" dirty="0"/>
          </a:p>
        </p:txBody>
      </p:sp>
      <p:sp>
        <p:nvSpPr>
          <p:cNvPr id="16" name="card_30"/>
          <p:cNvSpPr/>
          <p:nvPr/>
        </p:nvSpPr>
        <p:spPr>
          <a:xfrm>
            <a:off x="8010144" y="2697480"/>
            <a:ext cx="3520440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circle_31"/>
          <p:cNvSpPr/>
          <p:nvPr/>
        </p:nvSpPr>
        <p:spPr>
          <a:xfrm>
            <a:off x="8284464" y="292608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circlelabel_32"/>
          <p:cNvSpPr txBox="1"/>
          <p:nvPr/>
        </p:nvSpPr>
        <p:spPr>
          <a:xfrm>
            <a:off x="8284464" y="2926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_33"/>
          <p:cNvSpPr txBox="1"/>
          <p:nvPr/>
        </p:nvSpPr>
        <p:spPr>
          <a:xfrm>
            <a:off x="8284464" y="3749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2200" dirty="0"/>
          </a:p>
        </p:txBody>
      </p:sp>
      <p:sp>
        <p:nvSpPr>
          <p:cNvPr id="20" name="text_34"/>
          <p:cNvSpPr txBox="1"/>
          <p:nvPr/>
        </p:nvSpPr>
        <p:spPr>
          <a:xfrm>
            <a:off x="8284464" y="425196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Objective tests decide which explanation to trust: faithfulness vs. random, localisation, sanity, stability, cost.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Specific objectives</a:t>
            </a:r>
            <a:endParaRPr lang="en-US" sz="3200" dirty="0"/>
          </a:p>
        </p:txBody>
      </p:sp>
      <p:sp>
        <p:nvSpPr>
          <p:cNvPr id="4" name="card_35"/>
          <p:cNvSpPr/>
          <p:nvPr/>
        </p:nvSpPr>
        <p:spPr>
          <a:xfrm>
            <a:off x="548640" y="1325880"/>
            <a:ext cx="53492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ircle_36"/>
          <p:cNvSpPr/>
          <p:nvPr/>
        </p:nvSpPr>
        <p:spPr>
          <a:xfrm>
            <a:off x="731520" y="150876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circlelabel_37"/>
          <p:cNvSpPr txBox="1"/>
          <p:nvPr/>
        </p:nvSpPr>
        <p:spPr>
          <a:xfrm>
            <a:off x="731520" y="1508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O1</a:t>
            </a:r>
            <a:endParaRPr lang="en-US" sz="1500" dirty="0"/>
          </a:p>
        </p:txBody>
      </p:sp>
      <p:sp>
        <p:nvSpPr>
          <p:cNvPr id="7" name="text_38"/>
          <p:cNvSpPr txBox="1"/>
          <p:nvPr/>
        </p:nvSpPr>
        <p:spPr>
          <a:xfrm>
            <a:off x="1600200" y="14813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Dataset</a:t>
            </a:r>
            <a:endParaRPr lang="en-US" sz="1700" dirty="0"/>
          </a:p>
        </p:txBody>
      </p:sp>
      <p:sp>
        <p:nvSpPr>
          <p:cNvPr id="8" name="text_39"/>
          <p:cNvSpPr txBox="1"/>
          <p:nvPr/>
        </p:nvSpPr>
        <p:spPr>
          <a:xfrm>
            <a:off x="1600200" y="1828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Two-class dataset with explicit look-alikes; documented, audited</a:t>
            </a:r>
            <a:endParaRPr lang="en-US" sz="1400" dirty="0"/>
          </a:p>
        </p:txBody>
      </p:sp>
      <p:sp>
        <p:nvSpPr>
          <p:cNvPr id="9" name="card_40"/>
          <p:cNvSpPr/>
          <p:nvPr/>
        </p:nvSpPr>
        <p:spPr>
          <a:xfrm>
            <a:off x="6126480" y="1325880"/>
            <a:ext cx="53492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ircle_41"/>
          <p:cNvSpPr/>
          <p:nvPr/>
        </p:nvSpPr>
        <p:spPr>
          <a:xfrm>
            <a:off x="6309360" y="150876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circlelabel_42"/>
          <p:cNvSpPr txBox="1"/>
          <p:nvPr/>
        </p:nvSpPr>
        <p:spPr>
          <a:xfrm>
            <a:off x="6309360" y="1508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O2</a:t>
            </a:r>
            <a:endParaRPr lang="en-US" sz="1500" dirty="0"/>
          </a:p>
        </p:txBody>
      </p:sp>
      <p:sp>
        <p:nvSpPr>
          <p:cNvPr id="12" name="text_43"/>
          <p:cNvSpPr txBox="1"/>
          <p:nvPr/>
        </p:nvSpPr>
        <p:spPr>
          <a:xfrm>
            <a:off x="7178040" y="14813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Detector</a:t>
            </a:r>
            <a:endParaRPr lang="en-US" sz="1700" dirty="0"/>
          </a:p>
        </p:txBody>
      </p:sp>
      <p:sp>
        <p:nvSpPr>
          <p:cNvPr id="13" name="text_44"/>
          <p:cNvSpPr txBox="1"/>
          <p:nvPr/>
        </p:nvSpPr>
        <p:spPr>
          <a:xfrm>
            <a:off x="7178040" y="1828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Edge-ready YOLO11n; mAP and error taxonomy on held-out test</a:t>
            </a:r>
            <a:endParaRPr lang="en-US" sz="1400" dirty="0"/>
          </a:p>
        </p:txBody>
      </p:sp>
      <p:sp>
        <p:nvSpPr>
          <p:cNvPr id="14" name="card_45"/>
          <p:cNvSpPr/>
          <p:nvPr/>
        </p:nvSpPr>
        <p:spPr>
          <a:xfrm>
            <a:off x="548640" y="2542032"/>
            <a:ext cx="53492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circle_46"/>
          <p:cNvSpPr/>
          <p:nvPr/>
        </p:nvSpPr>
        <p:spPr>
          <a:xfrm>
            <a:off x="731520" y="2724912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circlelabel_47"/>
          <p:cNvSpPr txBox="1"/>
          <p:nvPr/>
        </p:nvSpPr>
        <p:spPr>
          <a:xfrm>
            <a:off x="731520" y="272491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O3</a:t>
            </a:r>
            <a:endParaRPr lang="en-US" sz="1500" dirty="0"/>
          </a:p>
        </p:txBody>
      </p:sp>
      <p:sp>
        <p:nvSpPr>
          <p:cNvPr id="17" name="text_48"/>
          <p:cNvSpPr txBox="1"/>
          <p:nvPr/>
        </p:nvSpPr>
        <p:spPr>
          <a:xfrm>
            <a:off x="1600200" y="2697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Explainers</a:t>
            </a:r>
            <a:endParaRPr lang="en-US" sz="1700" dirty="0"/>
          </a:p>
        </p:txBody>
      </p:sp>
      <p:sp>
        <p:nvSpPr>
          <p:cNvPr id="18" name="text_49"/>
          <p:cNvSpPr txBox="1"/>
          <p:nvPr/>
        </p:nvSpPr>
        <p:spPr>
          <a:xfrm>
            <a:off x="1600200" y="304495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Activation, gradient (multi-scale) and perturbation methods, one interface</a:t>
            </a:r>
            <a:endParaRPr lang="en-US" sz="1400" dirty="0"/>
          </a:p>
        </p:txBody>
      </p:sp>
      <p:sp>
        <p:nvSpPr>
          <p:cNvPr id="19" name="card_50"/>
          <p:cNvSpPr/>
          <p:nvPr/>
        </p:nvSpPr>
        <p:spPr>
          <a:xfrm>
            <a:off x="6126480" y="2542032"/>
            <a:ext cx="53492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circle_51"/>
          <p:cNvSpPr/>
          <p:nvPr/>
        </p:nvSpPr>
        <p:spPr>
          <a:xfrm>
            <a:off x="6309360" y="2724912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circlelabel_52"/>
          <p:cNvSpPr txBox="1"/>
          <p:nvPr/>
        </p:nvSpPr>
        <p:spPr>
          <a:xfrm>
            <a:off x="6309360" y="272491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O4</a:t>
            </a:r>
            <a:endParaRPr lang="en-US" sz="1500" dirty="0"/>
          </a:p>
        </p:txBody>
      </p:sp>
      <p:sp>
        <p:nvSpPr>
          <p:cNvPr id="22" name="text_53"/>
          <p:cNvSpPr txBox="1"/>
          <p:nvPr/>
        </p:nvSpPr>
        <p:spPr>
          <a:xfrm>
            <a:off x="7178040" y="2697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Objective comparison</a:t>
            </a:r>
            <a:endParaRPr lang="en-US" sz="1700" dirty="0"/>
          </a:p>
        </p:txBody>
      </p:sp>
      <p:sp>
        <p:nvSpPr>
          <p:cNvPr id="23" name="text_54"/>
          <p:cNvSpPr txBox="1"/>
          <p:nvPr/>
        </p:nvSpPr>
        <p:spPr>
          <a:xfrm>
            <a:off x="7178040" y="304495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Faithfulness, localisation, agreement, sanity, stability, cost</a:t>
            </a:r>
            <a:endParaRPr lang="en-US" sz="1400" dirty="0"/>
          </a:p>
        </p:txBody>
      </p:sp>
      <p:sp>
        <p:nvSpPr>
          <p:cNvPr id="24" name="card_55"/>
          <p:cNvSpPr/>
          <p:nvPr/>
        </p:nvSpPr>
        <p:spPr>
          <a:xfrm>
            <a:off x="548640" y="3758184"/>
            <a:ext cx="53492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circle_56"/>
          <p:cNvSpPr/>
          <p:nvPr/>
        </p:nvSpPr>
        <p:spPr>
          <a:xfrm>
            <a:off x="731520" y="3941064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circlelabel_57"/>
          <p:cNvSpPr txBox="1"/>
          <p:nvPr/>
        </p:nvSpPr>
        <p:spPr>
          <a:xfrm>
            <a:off x="731520" y="3941064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O5</a:t>
            </a:r>
            <a:endParaRPr lang="en-US" sz="1500" dirty="0"/>
          </a:p>
        </p:txBody>
      </p:sp>
      <p:sp>
        <p:nvSpPr>
          <p:cNvPr id="27" name="text_58"/>
          <p:cNvSpPr txBox="1"/>
          <p:nvPr/>
        </p:nvSpPr>
        <p:spPr>
          <a:xfrm>
            <a:off x="1600200" y="39136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Hard cases</a:t>
            </a:r>
            <a:endParaRPr lang="en-US" sz="1700" dirty="0"/>
          </a:p>
        </p:txBody>
      </p:sp>
      <p:sp>
        <p:nvSpPr>
          <p:cNvPr id="28" name="text_59"/>
          <p:cNvSpPr txBox="1"/>
          <p:nvPr/>
        </p:nvSpPr>
        <p:spPr>
          <a:xfrm>
            <a:off x="1600200" y="426110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Matched snake vs. look-alike pairs: why right, why wrong</a:t>
            </a:r>
            <a:endParaRPr lang="en-US" sz="1400" dirty="0"/>
          </a:p>
        </p:txBody>
      </p:sp>
      <p:sp>
        <p:nvSpPr>
          <p:cNvPr id="29" name="card_60"/>
          <p:cNvSpPr/>
          <p:nvPr/>
        </p:nvSpPr>
        <p:spPr>
          <a:xfrm>
            <a:off x="6126480" y="3758184"/>
            <a:ext cx="53492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circle_61"/>
          <p:cNvSpPr/>
          <p:nvPr/>
        </p:nvSpPr>
        <p:spPr>
          <a:xfrm>
            <a:off x="6309360" y="3941064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1" name="circlelabel_62"/>
          <p:cNvSpPr txBox="1"/>
          <p:nvPr/>
        </p:nvSpPr>
        <p:spPr>
          <a:xfrm>
            <a:off x="6309360" y="3941064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O6</a:t>
            </a:r>
            <a:endParaRPr lang="en-US" sz="1500" dirty="0"/>
          </a:p>
        </p:txBody>
      </p:sp>
      <p:sp>
        <p:nvSpPr>
          <p:cNvPr id="32" name="text_63"/>
          <p:cNvSpPr txBox="1"/>
          <p:nvPr/>
        </p:nvSpPr>
        <p:spPr>
          <a:xfrm>
            <a:off x="7178040" y="39136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Validation signal</a:t>
            </a:r>
            <a:endParaRPr lang="en-US" sz="1700" dirty="0"/>
          </a:p>
        </p:txBody>
      </p:sp>
      <p:sp>
        <p:nvSpPr>
          <p:cNvPr id="33" name="text_64"/>
          <p:cNvSpPr txBox="1"/>
          <p:nvPr/>
        </p:nvSpPr>
        <p:spPr>
          <a:xfrm>
            <a:off x="7178040" y="426110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Can explanations flag wrong detections better than confidence?</a:t>
            </a:r>
            <a:endParaRPr lang="en-US" sz="1400" dirty="0"/>
          </a:p>
        </p:txBody>
      </p:sp>
      <p:sp>
        <p:nvSpPr>
          <p:cNvPr id="34" name="card_65"/>
          <p:cNvSpPr/>
          <p:nvPr/>
        </p:nvSpPr>
        <p:spPr>
          <a:xfrm>
            <a:off x="548640" y="4974336"/>
            <a:ext cx="53492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circle_66"/>
          <p:cNvSpPr/>
          <p:nvPr/>
        </p:nvSpPr>
        <p:spPr>
          <a:xfrm>
            <a:off x="731520" y="5157216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6" name="circlelabel_67"/>
          <p:cNvSpPr txBox="1"/>
          <p:nvPr/>
        </p:nvSpPr>
        <p:spPr>
          <a:xfrm>
            <a:off x="731520" y="515721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O7</a:t>
            </a:r>
            <a:endParaRPr lang="en-US" sz="1500" dirty="0"/>
          </a:p>
        </p:txBody>
      </p:sp>
      <p:sp>
        <p:nvSpPr>
          <p:cNvPr id="37" name="text_68"/>
          <p:cNvSpPr txBox="1"/>
          <p:nvPr/>
        </p:nvSpPr>
        <p:spPr>
          <a:xfrm>
            <a:off x="1600200" y="512978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Runtime pipeline</a:t>
            </a:r>
            <a:endParaRPr lang="en-US" sz="1700" dirty="0"/>
          </a:p>
        </p:txBody>
      </p:sp>
      <p:sp>
        <p:nvSpPr>
          <p:cNvPr id="38" name="text_69"/>
          <p:cNvSpPr txBox="1"/>
          <p:nvPr/>
        </p:nvSpPr>
        <p:spPr>
          <a:xfrm>
            <a:off x="1600200" y="547725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Confirmation, proximity, 0–100 threat score, beep rate</a:t>
            </a:r>
            <a:endParaRPr lang="en-US" sz="1400" dirty="0"/>
          </a:p>
        </p:txBody>
      </p:sp>
      <p:sp>
        <p:nvSpPr>
          <p:cNvPr id="39" name="card_70"/>
          <p:cNvSpPr/>
          <p:nvPr/>
        </p:nvSpPr>
        <p:spPr>
          <a:xfrm>
            <a:off x="6126480" y="4974336"/>
            <a:ext cx="53492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0" name="circle_71"/>
          <p:cNvSpPr/>
          <p:nvPr/>
        </p:nvSpPr>
        <p:spPr>
          <a:xfrm>
            <a:off x="6309360" y="5157216"/>
            <a:ext cx="685800" cy="6858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1" name="circlelabel_72"/>
          <p:cNvSpPr txBox="1"/>
          <p:nvPr/>
        </p:nvSpPr>
        <p:spPr>
          <a:xfrm>
            <a:off x="6309360" y="515721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O8</a:t>
            </a:r>
            <a:endParaRPr lang="en-US" sz="1500" dirty="0"/>
          </a:p>
        </p:txBody>
      </p:sp>
      <p:sp>
        <p:nvSpPr>
          <p:cNvPr id="42" name="text_73"/>
          <p:cNvSpPr txBox="1"/>
          <p:nvPr/>
        </p:nvSpPr>
        <p:spPr>
          <a:xfrm>
            <a:off x="7178040" y="512978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Venom stage (B)</a:t>
            </a:r>
            <a:endParaRPr lang="en-US" sz="1700" dirty="0"/>
          </a:p>
        </p:txBody>
      </p:sp>
      <p:sp>
        <p:nvSpPr>
          <p:cNvPr id="43" name="text_74"/>
          <p:cNvSpPr txBox="1"/>
          <p:nvPr/>
        </p:nvSpPr>
        <p:spPr>
          <a:xfrm>
            <a:off x="7178040" y="547725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Venom classifier + its XAI on the shared protocol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Selection: requirements and why a composite dataset</a:t>
            </a:r>
            <a:endParaRPr lang="en-US" sz="3200" dirty="0"/>
          </a:p>
        </p:txBody>
      </p:sp>
      <p:sp>
        <p:nvSpPr>
          <p:cNvPr id="4" name="circle_75"/>
          <p:cNvSpPr/>
          <p:nvPr/>
        </p:nvSpPr>
        <p:spPr>
          <a:xfrm>
            <a:off x="548640" y="1325880"/>
            <a:ext cx="621792" cy="62179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circlelabel_76"/>
          <p:cNvSpPr txBox="1"/>
          <p:nvPr/>
        </p:nvSpPr>
        <p:spPr>
          <a:xfrm>
            <a:off x="548640" y="13258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R1</a:t>
            </a:r>
            <a:endParaRPr lang="en-US" sz="1400" dirty="0"/>
          </a:p>
        </p:txBody>
      </p:sp>
      <p:sp>
        <p:nvSpPr>
          <p:cNvPr id="6" name="text_77"/>
          <p:cNvSpPr txBox="1"/>
          <p:nvPr/>
        </p:nvSpPr>
        <p:spPr>
          <a:xfrm>
            <a:off x="1371600" y="13075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Explicit hard negatives</a:t>
            </a:r>
            <a:endParaRPr lang="en-US" sz="1700" dirty="0"/>
          </a:p>
        </p:txBody>
      </p:sp>
      <p:sp>
        <p:nvSpPr>
          <p:cNvPr id="7" name="text_78"/>
          <p:cNvSpPr txBox="1"/>
          <p:nvPr/>
        </p:nvSpPr>
        <p:spPr>
          <a:xfrm>
            <a:off x="1371600" y="165506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dedicated look-alike class, not unstructured background</a:t>
            </a:r>
            <a:endParaRPr lang="en-US" sz="1400" dirty="0"/>
          </a:p>
        </p:txBody>
      </p:sp>
      <p:sp>
        <p:nvSpPr>
          <p:cNvPr id="8" name="circle_79"/>
          <p:cNvSpPr/>
          <p:nvPr/>
        </p:nvSpPr>
        <p:spPr>
          <a:xfrm>
            <a:off x="548640" y="2221992"/>
            <a:ext cx="621792" cy="62179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circlelabel_80"/>
          <p:cNvSpPr txBox="1"/>
          <p:nvPr/>
        </p:nvSpPr>
        <p:spPr>
          <a:xfrm>
            <a:off x="548640" y="22219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R2</a:t>
            </a:r>
            <a:endParaRPr lang="en-US" sz="1400" dirty="0"/>
          </a:p>
        </p:txBody>
      </p:sp>
      <p:sp>
        <p:nvSpPr>
          <p:cNvPr id="10" name="text_81"/>
          <p:cNvSpPr txBox="1"/>
          <p:nvPr/>
        </p:nvSpPr>
        <p:spPr>
          <a:xfrm>
            <a:off x="1371600" y="220370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Natural snake imagery</a:t>
            </a:r>
            <a:endParaRPr lang="en-US" sz="1700" dirty="0"/>
          </a:p>
        </p:txBody>
      </p:sp>
      <p:sp>
        <p:nvSpPr>
          <p:cNvPr id="11" name="text_82"/>
          <p:cNvSpPr txBox="1"/>
          <p:nvPr/>
        </p:nvSpPr>
        <p:spPr>
          <a:xfrm>
            <a:off x="1371600" y="25511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Many species, postures, backgrounds, night shots</a:t>
            </a:r>
            <a:endParaRPr lang="en-US" sz="1400" dirty="0"/>
          </a:p>
        </p:txBody>
      </p:sp>
      <p:sp>
        <p:nvSpPr>
          <p:cNvPr id="12" name="circle_83"/>
          <p:cNvSpPr/>
          <p:nvPr/>
        </p:nvSpPr>
        <p:spPr>
          <a:xfrm>
            <a:off x="548640" y="3118104"/>
            <a:ext cx="621792" cy="62179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circlelabel_84"/>
          <p:cNvSpPr txBox="1"/>
          <p:nvPr/>
        </p:nvSpPr>
        <p:spPr>
          <a:xfrm>
            <a:off x="548640" y="311810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R3</a:t>
            </a:r>
            <a:endParaRPr lang="en-US" sz="1400" dirty="0"/>
          </a:p>
        </p:txBody>
      </p:sp>
      <p:sp>
        <p:nvSpPr>
          <p:cNvPr id="14" name="text_85"/>
          <p:cNvSpPr txBox="1"/>
          <p:nvPr/>
        </p:nvSpPr>
        <p:spPr>
          <a:xfrm>
            <a:off x="1371600" y="309981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Localisation labels</a:t>
            </a:r>
            <a:endParaRPr lang="en-US" sz="1700" dirty="0"/>
          </a:p>
        </p:txBody>
      </p:sp>
      <p:sp>
        <p:nvSpPr>
          <p:cNvPr id="15" name="text_86"/>
          <p:cNvSpPr txBox="1"/>
          <p:nvPr/>
        </p:nvSpPr>
        <p:spPr>
          <a:xfrm>
            <a:off x="1371600" y="34472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Boxes for detection; polygons for precise XAI checks</a:t>
            </a:r>
            <a:endParaRPr lang="en-US" sz="1400" dirty="0"/>
          </a:p>
        </p:txBody>
      </p:sp>
      <p:sp>
        <p:nvSpPr>
          <p:cNvPr id="16" name="circle_87"/>
          <p:cNvSpPr/>
          <p:nvPr/>
        </p:nvSpPr>
        <p:spPr>
          <a:xfrm>
            <a:off x="548640" y="4014216"/>
            <a:ext cx="621792" cy="62179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circlelabel_88"/>
          <p:cNvSpPr txBox="1"/>
          <p:nvPr/>
        </p:nvSpPr>
        <p:spPr>
          <a:xfrm>
            <a:off x="548640" y="401421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R4</a:t>
            </a:r>
            <a:endParaRPr lang="en-US" sz="1400" dirty="0"/>
          </a:p>
        </p:txBody>
      </p:sp>
      <p:sp>
        <p:nvSpPr>
          <p:cNvPr id="18" name="text_89"/>
          <p:cNvSpPr txBox="1"/>
          <p:nvPr/>
        </p:nvSpPr>
        <p:spPr>
          <a:xfrm>
            <a:off x="1371600" y="39959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Scale</a:t>
            </a:r>
            <a:endParaRPr lang="en-US" sz="1700" dirty="0"/>
          </a:p>
        </p:txBody>
      </p:sp>
      <p:sp>
        <p:nvSpPr>
          <p:cNvPr id="19" name="text_90"/>
          <p:cNvSpPr txBox="1"/>
          <p:nvPr/>
        </p:nvSpPr>
        <p:spPr>
          <a:xfrm>
            <a:off x="1371600" y="4343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Tens of thousands of images with held-out splits</a:t>
            </a:r>
            <a:endParaRPr lang="en-US" sz="1400" dirty="0"/>
          </a:p>
        </p:txBody>
      </p:sp>
      <p:sp>
        <p:nvSpPr>
          <p:cNvPr id="20" name="circle_91"/>
          <p:cNvSpPr/>
          <p:nvPr/>
        </p:nvSpPr>
        <p:spPr>
          <a:xfrm>
            <a:off x="548640" y="4910328"/>
            <a:ext cx="621792" cy="62179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circlelabel_92"/>
          <p:cNvSpPr txBox="1"/>
          <p:nvPr/>
        </p:nvSpPr>
        <p:spPr>
          <a:xfrm>
            <a:off x="548640" y="491032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R5</a:t>
            </a:r>
            <a:endParaRPr lang="en-US" sz="1400" dirty="0"/>
          </a:p>
        </p:txBody>
      </p:sp>
      <p:sp>
        <p:nvSpPr>
          <p:cNvPr id="22" name="text_93"/>
          <p:cNvSpPr txBox="1"/>
          <p:nvPr/>
        </p:nvSpPr>
        <p:spPr>
          <a:xfrm>
            <a:off x="1371600" y="4892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Open licences</a:t>
            </a:r>
            <a:endParaRPr lang="en-US" sz="1700" dirty="0"/>
          </a:p>
        </p:txBody>
      </p:sp>
      <p:sp>
        <p:nvSpPr>
          <p:cNvPr id="23" name="text_94"/>
          <p:cNvSpPr txBox="1"/>
          <p:nvPr/>
        </p:nvSpPr>
        <p:spPr>
          <a:xfrm>
            <a:off x="1371600" y="52395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Public sources, mostly CC BY 4.0</a:t>
            </a:r>
            <a:endParaRPr lang="en-US" sz="1400" dirty="0"/>
          </a:p>
        </p:txBody>
      </p:sp>
      <p:sp>
        <p:nvSpPr>
          <p:cNvPr id="24" name="card_95"/>
          <p:cNvSpPr/>
          <p:nvPr/>
        </p:nvSpPr>
        <p:spPr>
          <a:xfrm>
            <a:off x="6355080" y="1325880"/>
            <a:ext cx="5285232" cy="4434840"/>
          </a:xfrm>
          <a:prstGeom prst="roundRect">
            <a:avLst>
              <a:gd name="adj" fmla="val 16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_96"/>
          <p:cNvSpPr txBox="1"/>
          <p:nvPr/>
        </p:nvSpPr>
        <p:spPr>
          <a:xfrm>
            <a:off x="6629400" y="15087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Decision: build a composite dataset</a:t>
            </a:r>
            <a:endParaRPr lang="en-US" sz="1900" dirty="0"/>
          </a:p>
        </p:txBody>
      </p:sp>
      <p:sp>
        <p:nvSpPr>
          <p:cNvPr id="26" name="bullets_97"/>
          <p:cNvSpPr txBox="1"/>
          <p:nvPr/>
        </p:nvSpPr>
        <p:spPr>
          <a:xfrm>
            <a:off x="6629400" y="2057400"/>
            <a:ext cx="4754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Public snake datasets are almost all positive-only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one prior system with negatives (ropes, sticks, leaves) did not release its data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So: merge public Roboflow Universe and Kaggle sources: snake sets for class 0, one source per look-alike category for class 1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Relabel into two classes, split into train / validation / test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Look-alikes become a first-class part of training, not an afterthought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Classes and composition</a:t>
            </a:r>
            <a:endParaRPr lang="en-US" sz="3200" dirty="0"/>
          </a:p>
        </p:txBody>
      </p:sp>
      <p:graphicFrame>
        <p:nvGraphicFramePr>
          <p:cNvPr id="4" name="composition_chart" descr=""/>
          <p:cNvGraphicFramePr/>
          <p:nvPr/>
        </p:nvGraphicFramePr>
        <p:xfrm>
          <a:off x="548640" y="1280160"/>
          <a:ext cx="658368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_98"/>
          <p:cNvSpPr/>
          <p:nvPr/>
        </p:nvSpPr>
        <p:spPr>
          <a:xfrm>
            <a:off x="7406640" y="1325880"/>
            <a:ext cx="4233672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circle_99"/>
          <p:cNvSpPr/>
          <p:nvPr/>
        </p:nvSpPr>
        <p:spPr>
          <a:xfrm>
            <a:off x="7589520" y="1508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circlelabel_100"/>
          <p:cNvSpPr txBox="1"/>
          <p:nvPr/>
        </p:nvSpPr>
        <p:spPr>
          <a:xfrm>
            <a:off x="758952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0</a:t>
            </a:r>
            <a:endParaRPr lang="en-US" sz="1800" dirty="0"/>
          </a:p>
        </p:txBody>
      </p:sp>
      <p:sp>
        <p:nvSpPr>
          <p:cNvPr id="8" name="text_101"/>
          <p:cNvSpPr txBox="1"/>
          <p:nvPr/>
        </p:nvSpPr>
        <p:spPr>
          <a:xfrm>
            <a:off x="8321040" y="1554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4"/>
                </a:solidFill>
              </a:rPr>
              <a:t>snake</a:t>
            </a:r>
            <a:endParaRPr lang="en-US" sz="1900" dirty="0"/>
          </a:p>
        </p:txBody>
      </p:sp>
      <p:sp>
        <p:nvSpPr>
          <p:cNvPr id="9" name="text_102"/>
          <p:cNvSpPr txBox="1"/>
          <p:nvPr/>
        </p:nvSpPr>
        <p:spPr>
          <a:xfrm>
            <a:off x="7589520" y="219456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Any real snake: any species, posture, partly hidden, any light</a:t>
            </a:r>
            <a:endParaRPr lang="en-US" sz="1400" dirty="0"/>
          </a:p>
        </p:txBody>
      </p:sp>
      <p:sp>
        <p:nvSpPr>
          <p:cNvPr id="10" name="card_103"/>
          <p:cNvSpPr/>
          <p:nvPr/>
        </p:nvSpPr>
        <p:spPr>
          <a:xfrm>
            <a:off x="7406640" y="3657600"/>
            <a:ext cx="4233672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circle_104"/>
          <p:cNvSpPr/>
          <p:nvPr/>
        </p:nvSpPr>
        <p:spPr>
          <a:xfrm>
            <a:off x="7589520" y="384048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circlelabel_105"/>
          <p:cNvSpPr txBox="1"/>
          <p:nvPr/>
        </p:nvSpPr>
        <p:spPr>
          <a:xfrm>
            <a:off x="758952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13" name="text_106"/>
          <p:cNvSpPr txBox="1"/>
          <p:nvPr/>
        </p:nvSpPr>
        <p:spPr>
          <a:xfrm>
            <a:off x="8321040" y="3886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5"/>
                </a:solidFill>
              </a:rPr>
              <a:t>snake_like_object</a:t>
            </a:r>
            <a:endParaRPr lang="en-US" sz="1900" dirty="0"/>
          </a:p>
        </p:txBody>
      </p:sp>
      <p:sp>
        <p:nvSpPr>
          <p:cNvPr id="14" name="text_107"/>
          <p:cNvSpPr txBox="1"/>
          <p:nvPr/>
        </p:nvSpPr>
        <p:spPr>
          <a:xfrm>
            <a:off x="7589520" y="452628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Elongated, thin, curved or coiled non-snakes: belts, ropes and nooses, roots, hoses, pipes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the classes look like</a:t>
            </a:r>
            <a:endParaRPr lang="en-US" sz="3200" dirty="0"/>
          </a:p>
        </p:txBody>
      </p:sp>
      <p:pic>
        <p:nvPicPr>
          <p:cNvPr id="4" name="img_108" descr="sheet_lookali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5394960" cy="4046220"/>
          </a:xfrm>
          <a:prstGeom prst="rect">
            <a:avLst/>
          </a:prstGeom>
        </p:spPr>
      </p:pic>
      <p:pic>
        <p:nvPicPr>
          <p:cNvPr id="5" name="img_109" descr="sheet_snak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280160"/>
            <a:ext cx="5394960" cy="4046220"/>
          </a:xfrm>
          <a:prstGeom prst="rect">
            <a:avLst/>
          </a:prstGeom>
        </p:spPr>
      </p:pic>
      <p:sp>
        <p:nvSpPr>
          <p:cNvPr id="6" name="text_110"/>
          <p:cNvSpPr txBox="1"/>
          <p:nvPr/>
        </p:nvSpPr>
        <p:spPr>
          <a:xfrm>
            <a:off x="548640" y="54406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Look-alike class (48 samples)</a:t>
            </a:r>
            <a:endParaRPr lang="en-US" sz="1300" dirty="0"/>
          </a:p>
        </p:txBody>
      </p:sp>
      <p:sp>
        <p:nvSpPr>
          <p:cNvPr id="7" name="text_111"/>
          <p:cNvSpPr txBox="1"/>
          <p:nvPr/>
        </p:nvSpPr>
        <p:spPr>
          <a:xfrm>
            <a:off x="6245352" y="54406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Snake class (48 samples)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Splits and annotation format</a:t>
            </a:r>
            <a:endParaRPr lang="en-US" sz="3200" dirty="0"/>
          </a:p>
        </p:txBody>
      </p:sp>
      <p:graphicFrame>
        <p:nvGraphicFramePr>
          <p:cNvPr id="4" name="split_chart" descr=""/>
          <p:cNvGraphicFramePr/>
          <p:nvPr/>
        </p:nvGraphicFramePr>
        <p:xfrm>
          <a:off x="548640" y="1280160"/>
          <a:ext cx="54864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split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371600"/>
          <a:ext cx="5285232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097280"/>
                <a:gridCol w="1719072"/>
                <a:gridCol w="12344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Split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Images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Box / polygon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Background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2"/>
                          </a:solidFill>
                        </a:rPr>
                        <a:t>Train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2"/>
                          </a:solidFill>
                        </a:rPr>
                        <a:t>20,294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2"/>
                          </a:solidFill>
                        </a:rPr>
                        <a:t>16,630 / 4,850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2"/>
                          </a:solidFill>
                        </a:rPr>
                        <a:t>1,813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2"/>
                          </a:solidFill>
                        </a:rPr>
                        <a:t>Validation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2"/>
                          </a:solidFill>
                        </a:rPr>
                        <a:t>2,172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2"/>
                          </a:solidFill>
                        </a:rPr>
                        <a:t>2,057 / 451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2"/>
                          </a:solidFill>
                        </a:rPr>
                        <a:t>7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2"/>
                          </a:solidFill>
                        </a:rPr>
                        <a:t>Test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2"/>
                          </a:solidFill>
                        </a:rPr>
                        <a:t>841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2"/>
                          </a:solidFill>
                        </a:rPr>
                        <a:t>707 / 242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2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card_112"/>
          <p:cNvSpPr/>
          <p:nvPr/>
        </p:nvSpPr>
        <p:spPr>
          <a:xfrm>
            <a:off x="6355080" y="3246120"/>
            <a:ext cx="5285232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_113"/>
          <p:cNvSpPr txBox="1"/>
          <p:nvPr/>
        </p:nvSpPr>
        <p:spPr>
          <a:xfrm>
            <a:off x="6583680" y="3383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YOLO label lines</a:t>
            </a:r>
            <a:endParaRPr lang="en-US" sz="1700" dirty="0"/>
          </a:p>
        </p:txBody>
      </p:sp>
      <p:sp>
        <p:nvSpPr>
          <p:cNvPr id="8" name="bullets_114"/>
          <p:cNvSpPr txBox="1"/>
          <p:nvPr/>
        </p:nvSpPr>
        <p:spPr>
          <a:xfrm>
            <a:off x="6583680" y="384048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Box: class, x-centre, y-centre, width, height (≈ 77 %)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Polygon: class, x1 y1 x2 y2 … (≈ 23 %): the exact outline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Empty file = background image (no object)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All coordinates normalised to [0, 1]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System pipeline</a:t>
            </a:r>
            <a:endParaRPr lang="en-US" sz="3200" dirty="0"/>
          </a:p>
        </p:txBody>
      </p:sp>
      <p:pic>
        <p:nvPicPr>
          <p:cNvPr id="4" name="img_115" descr="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234440"/>
            <a:ext cx="9966960" cy="440644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Detection model: YOLO11n</a:t>
            </a:r>
            <a:endParaRPr lang="en-US" sz="3200" dirty="0"/>
          </a:p>
        </p:txBody>
      </p:sp>
      <p:sp>
        <p:nvSpPr>
          <p:cNvPr id="4" name="card_116"/>
          <p:cNvSpPr/>
          <p:nvPr/>
        </p:nvSpPr>
        <p:spPr>
          <a:xfrm>
            <a:off x="548640" y="1325880"/>
            <a:ext cx="2212848" cy="2468880"/>
          </a:xfrm>
          <a:prstGeom prst="roundRect">
            <a:avLst>
              <a:gd name="adj" fmla="val 33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_117"/>
          <p:cNvSpPr txBox="1"/>
          <p:nvPr/>
        </p:nvSpPr>
        <p:spPr>
          <a:xfrm>
            <a:off x="731520" y="1463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Backbone</a:t>
            </a:r>
            <a:endParaRPr lang="en-US" sz="1900" dirty="0"/>
          </a:p>
        </p:txBody>
      </p:sp>
      <p:sp>
        <p:nvSpPr>
          <p:cNvPr id="6" name="text_118"/>
          <p:cNvSpPr txBox="1"/>
          <p:nvPr/>
        </p:nvSpPr>
        <p:spPr>
          <a:xfrm>
            <a:off x="731520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Layers 0–10</a:t>
            </a:r>
            <a:endParaRPr lang="en-US" sz="1300" dirty="0"/>
          </a:p>
        </p:txBody>
      </p:sp>
      <p:sp>
        <p:nvSpPr>
          <p:cNvPr id="7" name="text_119"/>
          <p:cNvSpPr txBox="1"/>
          <p:nvPr/>
        </p:nvSpPr>
        <p:spPr>
          <a:xfrm>
            <a:off x="731520" y="22860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C3k2 blocks, SPPF, C2PSA attention</a:t>
            </a:r>
            <a:endParaRPr lang="en-US" sz="1400" dirty="0"/>
          </a:p>
        </p:txBody>
      </p:sp>
      <p:sp>
        <p:nvSpPr>
          <p:cNvPr id="8" name="arrow_120"/>
          <p:cNvSpPr/>
          <p:nvPr/>
        </p:nvSpPr>
        <p:spPr>
          <a:xfrm>
            <a:off x="2779776" y="2377440"/>
            <a:ext cx="155448" cy="320040"/>
          </a:xfrm>
          <a:prstGeom prst="rightArrow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9" name="card_121"/>
          <p:cNvSpPr/>
          <p:nvPr/>
        </p:nvSpPr>
        <p:spPr>
          <a:xfrm>
            <a:off x="2944368" y="1325880"/>
            <a:ext cx="2212848" cy="2468880"/>
          </a:xfrm>
          <a:prstGeom prst="roundRect">
            <a:avLst>
              <a:gd name="adj" fmla="val 33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_122"/>
          <p:cNvSpPr txBox="1"/>
          <p:nvPr/>
        </p:nvSpPr>
        <p:spPr>
          <a:xfrm>
            <a:off x="3127248" y="1463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Neck</a:t>
            </a:r>
            <a:endParaRPr lang="en-US" sz="1900" dirty="0"/>
          </a:p>
        </p:txBody>
      </p:sp>
      <p:sp>
        <p:nvSpPr>
          <p:cNvPr id="11" name="text_123"/>
          <p:cNvSpPr txBox="1"/>
          <p:nvPr/>
        </p:nvSpPr>
        <p:spPr>
          <a:xfrm>
            <a:off x="3127248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Layers 11–22</a:t>
            </a:r>
            <a:endParaRPr lang="en-US" sz="1300" dirty="0"/>
          </a:p>
        </p:txBody>
      </p:sp>
      <p:sp>
        <p:nvSpPr>
          <p:cNvPr id="12" name="text_124"/>
          <p:cNvSpPr txBox="1"/>
          <p:nvPr/>
        </p:nvSpPr>
        <p:spPr>
          <a:xfrm>
            <a:off x="3127248" y="22860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Feature pyramid → P3 (stride 8), P4 (16), P5 (32)</a:t>
            </a:r>
            <a:endParaRPr lang="en-US" sz="1400" dirty="0"/>
          </a:p>
        </p:txBody>
      </p:sp>
      <p:sp>
        <p:nvSpPr>
          <p:cNvPr id="13" name="arrow_125"/>
          <p:cNvSpPr/>
          <p:nvPr/>
        </p:nvSpPr>
        <p:spPr>
          <a:xfrm>
            <a:off x="5175504" y="2377440"/>
            <a:ext cx="155448" cy="320040"/>
          </a:xfrm>
          <a:prstGeom prst="rightArrow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card_126"/>
          <p:cNvSpPr/>
          <p:nvPr/>
        </p:nvSpPr>
        <p:spPr>
          <a:xfrm>
            <a:off x="5340096" y="1325880"/>
            <a:ext cx="2212848" cy="2468880"/>
          </a:xfrm>
          <a:prstGeom prst="roundRect">
            <a:avLst>
              <a:gd name="adj" fmla="val 33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_127"/>
          <p:cNvSpPr txBox="1"/>
          <p:nvPr/>
        </p:nvSpPr>
        <p:spPr>
          <a:xfrm>
            <a:off x="5522976" y="1463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Head</a:t>
            </a:r>
            <a:endParaRPr lang="en-US" sz="1900" dirty="0"/>
          </a:p>
        </p:txBody>
      </p:sp>
      <p:sp>
        <p:nvSpPr>
          <p:cNvPr id="16" name="text_128"/>
          <p:cNvSpPr txBox="1"/>
          <p:nvPr/>
        </p:nvSpPr>
        <p:spPr>
          <a:xfrm>
            <a:off x="5522976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Layer 23</a:t>
            </a:r>
            <a:endParaRPr lang="en-US" sz="1300" dirty="0"/>
          </a:p>
        </p:txBody>
      </p:sp>
      <p:sp>
        <p:nvSpPr>
          <p:cNvPr id="17" name="text_129"/>
          <p:cNvSpPr txBox="1"/>
          <p:nvPr/>
        </p:nvSpPr>
        <p:spPr>
          <a:xfrm>
            <a:off x="5522976" y="22860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Box + 2 class scores at every P3/P4/P5 location</a:t>
            </a:r>
            <a:endParaRPr lang="en-US" sz="1400" dirty="0"/>
          </a:p>
        </p:txBody>
      </p:sp>
      <p:sp>
        <p:nvSpPr>
          <p:cNvPr id="18" name="text_130"/>
          <p:cNvSpPr txBox="1"/>
          <p:nvPr/>
        </p:nvSpPr>
        <p:spPr>
          <a:xfrm>
            <a:off x="548640" y="41148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2.58 M</a:t>
            </a:r>
            <a:endParaRPr lang="en-US" sz="3200" dirty="0"/>
          </a:p>
        </p:txBody>
      </p:sp>
      <p:sp>
        <p:nvSpPr>
          <p:cNvPr id="19" name="text_131"/>
          <p:cNvSpPr txBox="1"/>
          <p:nvPr/>
        </p:nvSpPr>
        <p:spPr>
          <a:xfrm>
            <a:off x="548640" y="4754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parameters</a:t>
            </a:r>
            <a:endParaRPr lang="en-US" sz="1300" dirty="0"/>
          </a:p>
        </p:txBody>
      </p:sp>
      <p:sp>
        <p:nvSpPr>
          <p:cNvPr id="20" name="text_132"/>
          <p:cNvSpPr txBox="1"/>
          <p:nvPr/>
        </p:nvSpPr>
        <p:spPr>
          <a:xfrm>
            <a:off x="2944368" y="41148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6.4</a:t>
            </a:r>
            <a:endParaRPr lang="en-US" sz="3200" dirty="0"/>
          </a:p>
        </p:txBody>
      </p:sp>
      <p:sp>
        <p:nvSpPr>
          <p:cNvPr id="21" name="text_133"/>
          <p:cNvSpPr txBox="1"/>
          <p:nvPr/>
        </p:nvSpPr>
        <p:spPr>
          <a:xfrm>
            <a:off x="2944368" y="4754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GFLOPs</a:t>
            </a:r>
            <a:endParaRPr lang="en-US" sz="1300" dirty="0"/>
          </a:p>
        </p:txBody>
      </p:sp>
      <p:sp>
        <p:nvSpPr>
          <p:cNvPr id="22" name="text_134"/>
          <p:cNvSpPr txBox="1"/>
          <p:nvPr/>
        </p:nvSpPr>
        <p:spPr>
          <a:xfrm>
            <a:off x="5340096" y="41148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640 px</a:t>
            </a:r>
            <a:endParaRPr lang="en-US" sz="3200" dirty="0"/>
          </a:p>
        </p:txBody>
      </p:sp>
      <p:sp>
        <p:nvSpPr>
          <p:cNvPr id="23" name="text_135"/>
          <p:cNvSpPr txBox="1"/>
          <p:nvPr/>
        </p:nvSpPr>
        <p:spPr>
          <a:xfrm>
            <a:off x="5340096" y="4754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input, rect letterbox</a:t>
            </a:r>
            <a:endParaRPr lang="en-US" sz="1300" dirty="0"/>
          </a:p>
        </p:txBody>
      </p:sp>
      <p:sp>
        <p:nvSpPr>
          <p:cNvPr id="24" name="card_136"/>
          <p:cNvSpPr/>
          <p:nvPr/>
        </p:nvSpPr>
        <p:spPr>
          <a:xfrm>
            <a:off x="7863840" y="1325880"/>
            <a:ext cx="3776472" cy="4434840"/>
          </a:xfrm>
          <a:prstGeom prst="roundRect">
            <a:avLst>
              <a:gd name="adj" fmla="val 19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_137"/>
          <p:cNvSpPr txBox="1"/>
          <p:nvPr/>
        </p:nvSpPr>
        <p:spPr>
          <a:xfrm>
            <a:off x="8092440" y="14630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Training and evaluation</a:t>
            </a:r>
            <a:endParaRPr lang="en-US" sz="1800" dirty="0"/>
          </a:p>
        </p:txBody>
      </p:sp>
      <p:sp>
        <p:nvSpPr>
          <p:cNvPr id="26" name="bullets_138"/>
          <p:cNvSpPr txBox="1"/>
          <p:nvPr/>
        </p:nvSpPr>
        <p:spPr>
          <a:xfrm>
            <a:off x="8092440" y="1965960"/>
            <a:ext cx="3383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Ultralytics pipeline, 30 epochs, batch 16, Colab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Per-class NMS (IoU 0.7), conf ≥ 0.25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mAP@0.5, mAP@0.5:0.95, per-class P / 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Error taxonomy: TP, class confusion, background FP, missed object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Failure gallery of the most confident mistakes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Explanation methods and what they explain</a:t>
            </a:r>
            <a:endParaRPr lang="en-US" sz="3200" dirty="0"/>
          </a:p>
        </p:txBody>
      </p:sp>
      <p:sp>
        <p:nvSpPr>
          <p:cNvPr id="4" name="card_139"/>
          <p:cNvSpPr/>
          <p:nvPr/>
        </p:nvSpPr>
        <p:spPr>
          <a:xfrm>
            <a:off x="548640" y="1280160"/>
            <a:ext cx="11094415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_140"/>
          <p:cNvSpPr txBox="1"/>
          <p:nvPr/>
        </p:nvSpPr>
        <p:spPr>
          <a:xfrm>
            <a:off x="822960" y="1353312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Target score:</a:t>
            </a:r>
            <a:endParaRPr lang="en-US" sz="1600" dirty="0"/>
          </a:p>
        </p:txBody>
      </p:sp>
      <p:sp>
        <p:nvSpPr>
          <p:cNvPr id="6" name="text_141"/>
          <p:cNvSpPr txBox="1"/>
          <p:nvPr/>
        </p:nvSpPr>
        <p:spPr>
          <a:xfrm>
            <a:off x="2468880" y="1353312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chemeClr val="tx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s(x) = maxᵢ  IoU( bᵢ(x), b ) · pᵢ( c | x )</a:t>
            </a:r>
            <a:endParaRPr lang="en-US" sz="2200" dirty="0"/>
          </a:p>
        </p:txBody>
      </p:sp>
      <p:sp>
        <p:nvSpPr>
          <p:cNvPr id="7" name="text_142"/>
          <p:cNvSpPr txBox="1"/>
          <p:nvPr/>
        </p:nvSpPr>
        <p:spPr>
          <a:xfrm>
            <a:off x="8366760" y="137160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b, c = box and class of the detection being explained; i = every raw prediction. The same score drives every method and every metric.</a:t>
            </a:r>
            <a:endParaRPr lang="en-US" sz="1200" dirty="0"/>
          </a:p>
        </p:txBody>
      </p:sp>
      <p:sp>
        <p:nvSpPr>
          <p:cNvPr id="8" name="card_143"/>
          <p:cNvSpPr/>
          <p:nvPr/>
        </p:nvSpPr>
        <p:spPr>
          <a:xfrm>
            <a:off x="548640" y="2560320"/>
            <a:ext cx="3520440" cy="26060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ircle_144"/>
          <p:cNvSpPr/>
          <p:nvPr/>
        </p:nvSpPr>
        <p:spPr>
          <a:xfrm>
            <a:off x="777240" y="2724912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circlelabel_145"/>
          <p:cNvSpPr txBox="1"/>
          <p:nvPr/>
        </p:nvSpPr>
        <p:spPr>
          <a:xfrm>
            <a:off x="777240" y="2724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1</a:t>
            </a:r>
            <a:endParaRPr lang="en-US" sz="1700" dirty="0"/>
          </a:p>
        </p:txBody>
      </p:sp>
      <p:sp>
        <p:nvSpPr>
          <p:cNvPr id="11" name="text_146"/>
          <p:cNvSpPr txBox="1"/>
          <p:nvPr/>
        </p:nvSpPr>
        <p:spPr>
          <a:xfrm>
            <a:off x="1463040" y="277063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Activation</a:t>
            </a:r>
            <a:endParaRPr lang="en-US" sz="1800" dirty="0"/>
          </a:p>
        </p:txBody>
      </p:sp>
      <p:sp>
        <p:nvSpPr>
          <p:cNvPr id="12" name="text_147"/>
          <p:cNvSpPr txBox="1"/>
          <p:nvPr/>
        </p:nvSpPr>
        <p:spPr>
          <a:xfrm>
            <a:off x="777240" y="34015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Eigen-CAM</a:t>
            </a:r>
            <a:endParaRPr lang="en-US" sz="1500" dirty="0"/>
          </a:p>
        </p:txBody>
      </p:sp>
      <p:sp>
        <p:nvSpPr>
          <p:cNvPr id="13" name="text_148"/>
          <p:cNvSpPr txBox="1"/>
          <p:nvPr/>
        </p:nvSpPr>
        <p:spPr>
          <a:xfrm>
            <a:off x="777240" y="37947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First principal component of the feature maps. Fast, no gradients, class-agnostic.</a:t>
            </a:r>
            <a:endParaRPr lang="en-US" sz="1400" dirty="0"/>
          </a:p>
        </p:txBody>
      </p:sp>
      <p:sp>
        <p:nvSpPr>
          <p:cNvPr id="14" name="text_149"/>
          <p:cNvSpPr txBox="1"/>
          <p:nvPr/>
        </p:nvSpPr>
        <p:spPr>
          <a:xfrm>
            <a:off x="777240" y="4754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Proposal: first-pass check</a:t>
            </a:r>
            <a:endParaRPr lang="en-US" sz="1300" dirty="0"/>
          </a:p>
        </p:txBody>
      </p:sp>
      <p:sp>
        <p:nvSpPr>
          <p:cNvPr id="15" name="card_150"/>
          <p:cNvSpPr/>
          <p:nvPr/>
        </p:nvSpPr>
        <p:spPr>
          <a:xfrm>
            <a:off x="4279392" y="2560320"/>
            <a:ext cx="3520440" cy="26060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circle_151"/>
          <p:cNvSpPr/>
          <p:nvPr/>
        </p:nvSpPr>
        <p:spPr>
          <a:xfrm>
            <a:off x="4507992" y="2724912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circlelabel_152"/>
          <p:cNvSpPr txBox="1"/>
          <p:nvPr/>
        </p:nvSpPr>
        <p:spPr>
          <a:xfrm>
            <a:off x="4507992" y="2724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2</a:t>
            </a:r>
            <a:endParaRPr lang="en-US" sz="1700" dirty="0"/>
          </a:p>
        </p:txBody>
      </p:sp>
      <p:sp>
        <p:nvSpPr>
          <p:cNvPr id="18" name="text_153"/>
          <p:cNvSpPr txBox="1"/>
          <p:nvPr/>
        </p:nvSpPr>
        <p:spPr>
          <a:xfrm>
            <a:off x="5193792" y="277063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Gradient (multi-scale)</a:t>
            </a:r>
            <a:endParaRPr lang="en-US" sz="1800" dirty="0"/>
          </a:p>
        </p:txBody>
      </p:sp>
      <p:sp>
        <p:nvSpPr>
          <p:cNvPr id="19" name="text_154"/>
          <p:cNvSpPr txBox="1"/>
          <p:nvPr/>
        </p:nvSpPr>
        <p:spPr>
          <a:xfrm>
            <a:off x="4507992" y="34015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Grad-CAM · Grad-CAM++ · LayerCAM</a:t>
            </a:r>
            <a:endParaRPr lang="en-US" sz="1500" dirty="0"/>
          </a:p>
        </p:txBody>
      </p:sp>
      <p:sp>
        <p:nvSpPr>
          <p:cNvPr id="20" name="text_155"/>
          <p:cNvSpPr txBox="1"/>
          <p:nvPr/>
        </p:nvSpPr>
        <p:spPr>
          <a:xfrm>
            <a:off x="4507992" y="37947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Feature maps weighted by gradients of s, fused over P3, P4 and P5 so thin snakes are not lost.</a:t>
            </a:r>
            <a:endParaRPr lang="en-US" sz="1400" dirty="0"/>
          </a:p>
        </p:txBody>
      </p:sp>
      <p:sp>
        <p:nvSpPr>
          <p:cNvPr id="21" name="text_156"/>
          <p:cNvSpPr txBox="1"/>
          <p:nvPr/>
        </p:nvSpPr>
        <p:spPr>
          <a:xfrm>
            <a:off x="4507992" y="4754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Proposal: why labelled snake</a:t>
            </a:r>
            <a:endParaRPr lang="en-US" sz="1300" dirty="0"/>
          </a:p>
        </p:txBody>
      </p:sp>
      <p:sp>
        <p:nvSpPr>
          <p:cNvPr id="22" name="card_157"/>
          <p:cNvSpPr/>
          <p:nvPr/>
        </p:nvSpPr>
        <p:spPr>
          <a:xfrm>
            <a:off x="8010144" y="2560320"/>
            <a:ext cx="3520440" cy="26060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circle_158"/>
          <p:cNvSpPr/>
          <p:nvPr/>
        </p:nvSpPr>
        <p:spPr>
          <a:xfrm>
            <a:off x="8238744" y="2724912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circlelabel_159"/>
          <p:cNvSpPr txBox="1"/>
          <p:nvPr/>
        </p:nvSpPr>
        <p:spPr>
          <a:xfrm>
            <a:off x="8238744" y="2724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3</a:t>
            </a:r>
            <a:endParaRPr lang="en-US" sz="1700" dirty="0"/>
          </a:p>
        </p:txBody>
      </p:sp>
      <p:sp>
        <p:nvSpPr>
          <p:cNvPr id="25" name="text_160"/>
          <p:cNvSpPr txBox="1"/>
          <p:nvPr/>
        </p:nvSpPr>
        <p:spPr>
          <a:xfrm>
            <a:off x="8924544" y="277063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Perturbation</a:t>
            </a:r>
            <a:endParaRPr lang="en-US" sz="1800" dirty="0"/>
          </a:p>
        </p:txBody>
      </p:sp>
      <p:sp>
        <p:nvSpPr>
          <p:cNvPr id="26" name="text_161"/>
          <p:cNvSpPr txBox="1"/>
          <p:nvPr/>
        </p:nvSpPr>
        <p:spPr>
          <a:xfrm>
            <a:off x="8238744" y="34015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Occlusion · D-RISE</a:t>
            </a:r>
            <a:endParaRPr lang="en-US" sz="1500" dirty="0"/>
          </a:p>
        </p:txBody>
      </p:sp>
      <p:sp>
        <p:nvSpPr>
          <p:cNvPr id="27" name="text_162"/>
          <p:cNvSpPr txBox="1"/>
          <p:nvPr/>
        </p:nvSpPr>
        <p:spPr>
          <a:xfrm>
            <a:off x="8238744" y="37947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Hide patches or random masks and measure the drop in s. Model-agnostic, slower.</a:t>
            </a:r>
            <a:endParaRPr lang="en-US" sz="1400" dirty="0"/>
          </a:p>
        </p:txBody>
      </p:sp>
      <p:sp>
        <p:nvSpPr>
          <p:cNvPr id="28" name="text_163"/>
          <p:cNvSpPr txBox="1"/>
          <p:nvPr/>
        </p:nvSpPr>
        <p:spPr>
          <a:xfrm>
            <a:off x="8238744" y="4754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Proposal: independent cross-check</a:t>
            </a:r>
            <a:endParaRPr lang="en-US" sz="1300" dirty="0"/>
          </a:p>
        </p:txBody>
      </p:sp>
      <p:sp>
        <p:nvSpPr>
          <p:cNvPr id="29" name="card_164"/>
          <p:cNvSpPr/>
          <p:nvPr/>
        </p:nvSpPr>
        <p:spPr>
          <a:xfrm>
            <a:off x="548640" y="5349240"/>
            <a:ext cx="11094415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xt_165"/>
          <p:cNvSpPr txBox="1"/>
          <p:nvPr/>
        </p:nvSpPr>
        <p:spPr>
          <a:xfrm>
            <a:off x="822960" y="5376672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Baselines: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random map and box prior. A useful method must beat both. SHAP / LIME set aside (built for single-label classification).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Evaluation protocol: six axes</a:t>
            </a:r>
            <a:endParaRPr lang="en-US" sz="3200" dirty="0"/>
          </a:p>
        </p:txBody>
      </p:sp>
      <p:sp>
        <p:nvSpPr>
          <p:cNvPr id="4" name="card_166"/>
          <p:cNvSpPr/>
          <p:nvPr/>
        </p:nvSpPr>
        <p:spPr>
          <a:xfrm>
            <a:off x="548640" y="1325880"/>
            <a:ext cx="352044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ircle_167"/>
          <p:cNvSpPr/>
          <p:nvPr/>
        </p:nvSpPr>
        <p:spPr>
          <a:xfrm>
            <a:off x="777240" y="1527048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circlelabel_168"/>
          <p:cNvSpPr txBox="1"/>
          <p:nvPr/>
        </p:nvSpPr>
        <p:spPr>
          <a:xfrm>
            <a:off x="777240" y="1527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_169"/>
          <p:cNvSpPr txBox="1"/>
          <p:nvPr/>
        </p:nvSpPr>
        <p:spPr>
          <a:xfrm>
            <a:off x="1508760" y="157276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Faithfulness</a:t>
            </a:r>
            <a:endParaRPr lang="en-US" sz="1900" dirty="0"/>
          </a:p>
        </p:txBody>
      </p:sp>
      <p:sp>
        <p:nvSpPr>
          <p:cNvPr id="8" name="text_170"/>
          <p:cNvSpPr txBox="1"/>
          <p:nvPr/>
        </p:nvSpPr>
        <p:spPr>
          <a:xfrm>
            <a:off x="777240" y="21945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Deletion ↓ and insertion ↑ AUC, compared with the random baseline on the same detection</a:t>
            </a:r>
            <a:endParaRPr lang="en-US" sz="1400" dirty="0"/>
          </a:p>
        </p:txBody>
      </p:sp>
      <p:sp>
        <p:nvSpPr>
          <p:cNvPr id="9" name="card_171"/>
          <p:cNvSpPr/>
          <p:nvPr/>
        </p:nvSpPr>
        <p:spPr>
          <a:xfrm>
            <a:off x="4279392" y="1325880"/>
            <a:ext cx="352044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ircle_172"/>
          <p:cNvSpPr/>
          <p:nvPr/>
        </p:nvSpPr>
        <p:spPr>
          <a:xfrm>
            <a:off x="4507992" y="1527048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circlelabel_173"/>
          <p:cNvSpPr txBox="1"/>
          <p:nvPr/>
        </p:nvSpPr>
        <p:spPr>
          <a:xfrm>
            <a:off x="4507992" y="1527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_174"/>
          <p:cNvSpPr txBox="1"/>
          <p:nvPr/>
        </p:nvSpPr>
        <p:spPr>
          <a:xfrm>
            <a:off x="5239512" y="157276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Localisation</a:t>
            </a:r>
            <a:endParaRPr lang="en-US" sz="1900" dirty="0"/>
          </a:p>
        </p:txBody>
      </p:sp>
      <p:sp>
        <p:nvSpPr>
          <p:cNvPr id="13" name="text_175"/>
          <p:cNvSpPr txBox="1"/>
          <p:nvPr/>
        </p:nvSpPr>
        <p:spPr>
          <a:xfrm>
            <a:off x="4507992" y="21945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Pointing game, energy inside GT, saliency IoU, against box and polygon</a:t>
            </a:r>
            <a:endParaRPr lang="en-US" sz="1400" dirty="0"/>
          </a:p>
        </p:txBody>
      </p:sp>
      <p:sp>
        <p:nvSpPr>
          <p:cNvPr id="14" name="card_176"/>
          <p:cNvSpPr/>
          <p:nvPr/>
        </p:nvSpPr>
        <p:spPr>
          <a:xfrm>
            <a:off x="8010144" y="1325880"/>
            <a:ext cx="352044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circle_177"/>
          <p:cNvSpPr/>
          <p:nvPr/>
        </p:nvSpPr>
        <p:spPr>
          <a:xfrm>
            <a:off x="8238744" y="1527048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circlelabel_178"/>
          <p:cNvSpPr txBox="1"/>
          <p:nvPr/>
        </p:nvSpPr>
        <p:spPr>
          <a:xfrm>
            <a:off x="8238744" y="1527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_179"/>
          <p:cNvSpPr txBox="1"/>
          <p:nvPr/>
        </p:nvSpPr>
        <p:spPr>
          <a:xfrm>
            <a:off x="8970264" y="157276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Agreement</a:t>
            </a:r>
            <a:endParaRPr lang="en-US" sz="1900" dirty="0"/>
          </a:p>
        </p:txBody>
      </p:sp>
      <p:sp>
        <p:nvSpPr>
          <p:cNvPr id="18" name="text_180"/>
          <p:cNvSpPr txBox="1"/>
          <p:nvPr/>
        </p:nvSpPr>
        <p:spPr>
          <a:xfrm>
            <a:off x="8238744" y="21945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Spearman rank and top-20 % IoU between methods</a:t>
            </a:r>
            <a:endParaRPr lang="en-US" sz="1400" dirty="0"/>
          </a:p>
        </p:txBody>
      </p:sp>
      <p:sp>
        <p:nvSpPr>
          <p:cNvPr id="19" name="card_181"/>
          <p:cNvSpPr/>
          <p:nvPr/>
        </p:nvSpPr>
        <p:spPr>
          <a:xfrm>
            <a:off x="548640" y="3566160"/>
            <a:ext cx="352044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circle_182"/>
          <p:cNvSpPr/>
          <p:nvPr/>
        </p:nvSpPr>
        <p:spPr>
          <a:xfrm>
            <a:off x="777240" y="3767328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circlelabel_183"/>
          <p:cNvSpPr txBox="1"/>
          <p:nvPr/>
        </p:nvSpPr>
        <p:spPr>
          <a:xfrm>
            <a:off x="777240" y="37673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_184"/>
          <p:cNvSpPr txBox="1"/>
          <p:nvPr/>
        </p:nvSpPr>
        <p:spPr>
          <a:xfrm>
            <a:off x="1508760" y="381304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Sanity</a:t>
            </a:r>
            <a:endParaRPr lang="en-US" sz="1900" dirty="0"/>
          </a:p>
        </p:txBody>
      </p:sp>
      <p:sp>
        <p:nvSpPr>
          <p:cNvPr id="23" name="text_185"/>
          <p:cNvSpPr txBox="1"/>
          <p:nvPr/>
        </p:nvSpPr>
        <p:spPr>
          <a:xfrm>
            <a:off x="777240" y="44348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Cascading weight randomisation: the map must change when the model is destroyed</a:t>
            </a:r>
            <a:endParaRPr lang="en-US" sz="1400" dirty="0"/>
          </a:p>
        </p:txBody>
      </p:sp>
      <p:sp>
        <p:nvSpPr>
          <p:cNvPr id="24" name="card_186"/>
          <p:cNvSpPr/>
          <p:nvPr/>
        </p:nvSpPr>
        <p:spPr>
          <a:xfrm>
            <a:off x="4279392" y="3566160"/>
            <a:ext cx="352044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circle_187"/>
          <p:cNvSpPr/>
          <p:nvPr/>
        </p:nvSpPr>
        <p:spPr>
          <a:xfrm>
            <a:off x="4507992" y="3767328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circlelabel_188"/>
          <p:cNvSpPr txBox="1"/>
          <p:nvPr/>
        </p:nvSpPr>
        <p:spPr>
          <a:xfrm>
            <a:off x="4507992" y="37673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_189"/>
          <p:cNvSpPr txBox="1"/>
          <p:nvPr/>
        </p:nvSpPr>
        <p:spPr>
          <a:xfrm>
            <a:off x="5239512" y="381304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Stability</a:t>
            </a:r>
            <a:endParaRPr lang="en-US" sz="1900" dirty="0"/>
          </a:p>
        </p:txBody>
      </p:sp>
      <p:sp>
        <p:nvSpPr>
          <p:cNvPr id="28" name="text_190"/>
          <p:cNvSpPr txBox="1"/>
          <p:nvPr/>
        </p:nvSpPr>
        <p:spPr>
          <a:xfrm>
            <a:off x="4507992" y="44348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Similarity of maps under small input noise (σ = 0.02)</a:t>
            </a:r>
            <a:endParaRPr lang="en-US" sz="1400" dirty="0"/>
          </a:p>
        </p:txBody>
      </p:sp>
      <p:sp>
        <p:nvSpPr>
          <p:cNvPr id="29" name="card_191"/>
          <p:cNvSpPr/>
          <p:nvPr/>
        </p:nvSpPr>
        <p:spPr>
          <a:xfrm>
            <a:off x="8010144" y="3566160"/>
            <a:ext cx="352044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circle_192"/>
          <p:cNvSpPr/>
          <p:nvPr/>
        </p:nvSpPr>
        <p:spPr>
          <a:xfrm>
            <a:off x="8238744" y="3767328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1" name="circlelabel_193"/>
          <p:cNvSpPr txBox="1"/>
          <p:nvPr/>
        </p:nvSpPr>
        <p:spPr>
          <a:xfrm>
            <a:off x="8238744" y="37673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6</a:t>
            </a:r>
            <a:endParaRPr lang="en-US" sz="1600" dirty="0"/>
          </a:p>
        </p:txBody>
      </p:sp>
      <p:sp>
        <p:nvSpPr>
          <p:cNvPr id="32" name="text_194"/>
          <p:cNvSpPr txBox="1"/>
          <p:nvPr/>
        </p:nvSpPr>
        <p:spPr>
          <a:xfrm>
            <a:off x="8970264" y="381304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Cost</a:t>
            </a:r>
            <a:endParaRPr lang="en-US" sz="1900" dirty="0"/>
          </a:p>
        </p:txBody>
      </p:sp>
      <p:sp>
        <p:nvSpPr>
          <p:cNvPr id="33" name="text_195"/>
          <p:cNvSpPr txBox="1"/>
          <p:nvPr/>
        </p:nvSpPr>
        <p:spPr>
          <a:xfrm>
            <a:off x="8238744" y="44348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Milliseconds per explanation on the target GPU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Runtime pipeline</a:t>
            </a:r>
            <a:endParaRPr lang="en-US" sz="3200" dirty="0"/>
          </a:p>
        </p:txBody>
      </p:sp>
      <p:sp>
        <p:nvSpPr>
          <p:cNvPr id="4" name="card_196"/>
          <p:cNvSpPr/>
          <p:nvPr/>
        </p:nvSpPr>
        <p:spPr>
          <a:xfrm>
            <a:off x="548640" y="1325880"/>
            <a:ext cx="53492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ircle_197"/>
          <p:cNvSpPr/>
          <p:nvPr/>
        </p:nvSpPr>
        <p:spPr>
          <a:xfrm>
            <a:off x="731520" y="164592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circlelabel_198"/>
          <p:cNvSpPr txBox="1"/>
          <p:nvPr/>
        </p:nvSpPr>
        <p:spPr>
          <a:xfrm>
            <a:off x="73152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1</a:t>
            </a:r>
            <a:endParaRPr lang="en-US" sz="1700" dirty="0"/>
          </a:p>
        </p:txBody>
      </p:sp>
      <p:sp>
        <p:nvSpPr>
          <p:cNvPr id="7" name="text_199"/>
          <p:cNvSpPr txBox="1"/>
          <p:nvPr/>
        </p:nvSpPr>
        <p:spPr>
          <a:xfrm>
            <a:off x="1554480" y="146304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Conflict resolution</a:t>
            </a:r>
            <a:endParaRPr lang="en-US" sz="1700" dirty="0"/>
          </a:p>
        </p:txBody>
      </p:sp>
      <p:sp>
        <p:nvSpPr>
          <p:cNvPr id="8" name="text_200"/>
          <p:cNvSpPr txBox="1"/>
          <p:nvPr/>
        </p:nvSpPr>
        <p:spPr>
          <a:xfrm>
            <a:off x="1554480" y="187452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Overlapping snake and look-alike: keep snake unless the look-alike is ≥ 0.15 more confident</a:t>
            </a:r>
            <a:endParaRPr lang="en-US" sz="1400" dirty="0"/>
          </a:p>
        </p:txBody>
      </p:sp>
      <p:sp>
        <p:nvSpPr>
          <p:cNvPr id="9" name="card_201"/>
          <p:cNvSpPr/>
          <p:nvPr/>
        </p:nvSpPr>
        <p:spPr>
          <a:xfrm>
            <a:off x="6126480" y="1325880"/>
            <a:ext cx="53492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ircle_202"/>
          <p:cNvSpPr/>
          <p:nvPr/>
        </p:nvSpPr>
        <p:spPr>
          <a:xfrm>
            <a:off x="6309360" y="164592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circlelabel_203"/>
          <p:cNvSpPr txBox="1"/>
          <p:nvPr/>
        </p:nvSpPr>
        <p:spPr>
          <a:xfrm>
            <a:off x="630936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2</a:t>
            </a:r>
            <a:endParaRPr lang="en-US" sz="1700" dirty="0"/>
          </a:p>
        </p:txBody>
      </p:sp>
      <p:sp>
        <p:nvSpPr>
          <p:cNvPr id="12" name="text_204"/>
          <p:cNvSpPr txBox="1"/>
          <p:nvPr/>
        </p:nvSpPr>
        <p:spPr>
          <a:xfrm>
            <a:off x="7132320" y="146304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Small-object filter</a:t>
            </a:r>
            <a:endParaRPr lang="en-US" sz="1700" dirty="0"/>
          </a:p>
        </p:txBody>
      </p:sp>
      <p:sp>
        <p:nvSpPr>
          <p:cNvPr id="13" name="text_205"/>
          <p:cNvSpPr txBox="1"/>
          <p:nvPr/>
        </p:nvSpPr>
        <p:spPr>
          <a:xfrm>
            <a:off x="7132320" y="187452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Drop boxes &lt; 0.1 % of the frame</a:t>
            </a:r>
            <a:endParaRPr lang="en-US" sz="1400" dirty="0"/>
          </a:p>
        </p:txBody>
      </p:sp>
      <p:sp>
        <p:nvSpPr>
          <p:cNvPr id="14" name="card_206"/>
          <p:cNvSpPr/>
          <p:nvPr/>
        </p:nvSpPr>
        <p:spPr>
          <a:xfrm>
            <a:off x="548640" y="2788920"/>
            <a:ext cx="53492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circle_207"/>
          <p:cNvSpPr/>
          <p:nvPr/>
        </p:nvSpPr>
        <p:spPr>
          <a:xfrm>
            <a:off x="731520" y="31089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circlelabel_208"/>
          <p:cNvSpPr txBox="1"/>
          <p:nvPr/>
        </p:nvSpPr>
        <p:spPr>
          <a:xfrm>
            <a:off x="731520" y="3108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3</a:t>
            </a:r>
            <a:endParaRPr lang="en-US" sz="1700" dirty="0"/>
          </a:p>
        </p:txBody>
      </p:sp>
      <p:sp>
        <p:nvSpPr>
          <p:cNvPr id="17" name="text_209"/>
          <p:cNvSpPr txBox="1"/>
          <p:nvPr/>
        </p:nvSpPr>
        <p:spPr>
          <a:xfrm>
            <a:off x="1554480" y="292608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Venom status</a:t>
            </a:r>
            <a:endParaRPr lang="en-US" sz="1700" dirty="0"/>
          </a:p>
        </p:txBody>
      </p:sp>
      <p:sp>
        <p:nvSpPr>
          <p:cNvPr id="18" name="text_210"/>
          <p:cNvSpPr txBox="1"/>
          <p:nvPr/>
        </p:nvSpPr>
        <p:spPr>
          <a:xfrm>
            <a:off x="1554480" y="333756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Member B's classifier → P(venomous); unknown counts as venomous</a:t>
            </a:r>
            <a:endParaRPr lang="en-US" sz="1400" dirty="0"/>
          </a:p>
        </p:txBody>
      </p:sp>
      <p:sp>
        <p:nvSpPr>
          <p:cNvPr id="19" name="card_211"/>
          <p:cNvSpPr/>
          <p:nvPr/>
        </p:nvSpPr>
        <p:spPr>
          <a:xfrm>
            <a:off x="6126480" y="2788920"/>
            <a:ext cx="53492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circle_212"/>
          <p:cNvSpPr/>
          <p:nvPr/>
        </p:nvSpPr>
        <p:spPr>
          <a:xfrm>
            <a:off x="6309360" y="31089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circlelabel_213"/>
          <p:cNvSpPr txBox="1"/>
          <p:nvPr/>
        </p:nvSpPr>
        <p:spPr>
          <a:xfrm>
            <a:off x="6309360" y="3108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4</a:t>
            </a:r>
            <a:endParaRPr lang="en-US" sz="1700" dirty="0"/>
          </a:p>
        </p:txBody>
      </p:sp>
      <p:sp>
        <p:nvSpPr>
          <p:cNvPr id="22" name="text_214"/>
          <p:cNvSpPr txBox="1"/>
          <p:nvPr/>
        </p:nvSpPr>
        <p:spPr>
          <a:xfrm>
            <a:off x="7132320" y="292608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Proximity</a:t>
            </a:r>
            <a:endParaRPr lang="en-US" sz="1700" dirty="0"/>
          </a:p>
        </p:txBody>
      </p:sp>
      <p:sp>
        <p:nvSpPr>
          <p:cNvPr id="23" name="text_215"/>
          <p:cNvSpPr txBox="1"/>
          <p:nvPr/>
        </p:nvSpPr>
        <p:spPr>
          <a:xfrm>
            <a:off x="7132320" y="333756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clip((√area − √0.005) / (√0.25 − √0.005), 0, 1)</a:t>
            </a:r>
            <a:endParaRPr lang="en-US" sz="1400" dirty="0"/>
          </a:p>
        </p:txBody>
      </p:sp>
      <p:sp>
        <p:nvSpPr>
          <p:cNvPr id="24" name="card_216"/>
          <p:cNvSpPr/>
          <p:nvPr/>
        </p:nvSpPr>
        <p:spPr>
          <a:xfrm>
            <a:off x="548640" y="4251960"/>
            <a:ext cx="53492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circle_217"/>
          <p:cNvSpPr/>
          <p:nvPr/>
        </p:nvSpPr>
        <p:spPr>
          <a:xfrm>
            <a:off x="731520" y="457200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circlelabel_218"/>
          <p:cNvSpPr txBox="1"/>
          <p:nvPr/>
        </p:nvSpPr>
        <p:spPr>
          <a:xfrm>
            <a:off x="731520" y="4572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5</a:t>
            </a:r>
            <a:endParaRPr lang="en-US" sz="1700" dirty="0"/>
          </a:p>
        </p:txBody>
      </p:sp>
      <p:sp>
        <p:nvSpPr>
          <p:cNvPr id="27" name="text_219"/>
          <p:cNvSpPr txBox="1"/>
          <p:nvPr/>
        </p:nvSpPr>
        <p:spPr>
          <a:xfrm>
            <a:off x="1554480" y="438912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Confirmation</a:t>
            </a:r>
            <a:endParaRPr lang="en-US" sz="1700" dirty="0"/>
          </a:p>
        </p:txBody>
      </p:sp>
      <p:sp>
        <p:nvSpPr>
          <p:cNvPr id="28" name="text_220"/>
          <p:cNvSpPr txBox="1"/>
          <p:nvPr/>
        </p:nvSpPr>
        <p:spPr>
          <a:xfrm>
            <a:off x="1554480" y="480060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Snake in ≥ 3 of the last 5 frames</a:t>
            </a:r>
            <a:endParaRPr lang="en-US" sz="1400" dirty="0"/>
          </a:p>
        </p:txBody>
      </p:sp>
      <p:sp>
        <p:nvSpPr>
          <p:cNvPr id="29" name="card_221"/>
          <p:cNvSpPr/>
          <p:nvPr/>
        </p:nvSpPr>
        <p:spPr>
          <a:xfrm>
            <a:off x="6126480" y="4251960"/>
            <a:ext cx="53492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circle_222"/>
          <p:cNvSpPr/>
          <p:nvPr/>
        </p:nvSpPr>
        <p:spPr>
          <a:xfrm>
            <a:off x="6309360" y="457200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1" name="circlelabel_223"/>
          <p:cNvSpPr txBox="1"/>
          <p:nvPr/>
        </p:nvSpPr>
        <p:spPr>
          <a:xfrm>
            <a:off x="6309360" y="4572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6</a:t>
            </a:r>
            <a:endParaRPr lang="en-US" sz="1700" dirty="0"/>
          </a:p>
        </p:txBody>
      </p:sp>
      <p:sp>
        <p:nvSpPr>
          <p:cNvPr id="32" name="text_224"/>
          <p:cNvSpPr txBox="1"/>
          <p:nvPr/>
        </p:nvSpPr>
        <p:spPr>
          <a:xfrm>
            <a:off x="7132320" y="438912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Threat and alert</a:t>
            </a:r>
            <a:endParaRPr lang="en-US" sz="1700" dirty="0"/>
          </a:p>
        </p:txBody>
      </p:sp>
      <p:sp>
        <p:nvSpPr>
          <p:cNvPr id="33" name="text_225"/>
          <p:cNvSpPr txBox="1"/>
          <p:nvPr/>
        </p:nvSpPr>
        <p:spPr>
          <a:xfrm>
            <a:off x="7132320" y="480060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 = 100 · conf · (0.6 · proximity + 0.4 · P(venomous)); beep 1,500 → 150 ms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Scope and division of work</a:t>
            </a:r>
            <a:endParaRPr lang="en-US" sz="3200" dirty="0"/>
          </a:p>
        </p:txBody>
      </p:sp>
      <p:sp>
        <p:nvSpPr>
          <p:cNvPr id="4" name="card_226"/>
          <p:cNvSpPr/>
          <p:nvPr/>
        </p:nvSpPr>
        <p:spPr>
          <a:xfrm>
            <a:off x="548640" y="1325880"/>
            <a:ext cx="5349240" cy="4480560"/>
          </a:xfrm>
          <a:prstGeom prst="roundRect">
            <a:avLst>
              <a:gd name="adj" fmla="val 16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_227"/>
          <p:cNvSpPr txBox="1"/>
          <p:nvPr/>
        </p:nvSpPr>
        <p:spPr>
          <a:xfrm>
            <a:off x="822960" y="14630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In scope</a:t>
            </a:r>
            <a:endParaRPr lang="en-US" sz="1900" dirty="0"/>
          </a:p>
        </p:txBody>
      </p:sp>
      <p:sp>
        <p:nvSpPr>
          <p:cNvPr id="6" name="bullets_228"/>
          <p:cNvSpPr txBox="1"/>
          <p:nvPr/>
        </p:nvSpPr>
        <p:spPr>
          <a:xfrm>
            <a:off x="822960" y="192024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Frozen YOLO11n detector on the two-class dataset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Post-hoc explanation of individual detections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Quantitative comparison of XAI methods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Runtime logic: confirmation, proximity, threat, alert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Venom-classifier interface</a:t>
            </a:r>
            <a:endParaRPr lang="en-US" sz="1500" dirty="0"/>
          </a:p>
        </p:txBody>
      </p:sp>
      <p:sp>
        <p:nvSpPr>
          <p:cNvPr id="7" name="text_229"/>
          <p:cNvSpPr txBox="1"/>
          <p:nvPr/>
        </p:nvSpPr>
        <p:spPr>
          <a:xfrm>
            <a:off x="822960" y="39319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4"/>
                </a:solidFill>
              </a:rPr>
              <a:t>Out of scope (this phase)</a:t>
            </a:r>
            <a:endParaRPr lang="en-US" sz="1900" dirty="0"/>
          </a:p>
        </p:txBody>
      </p:sp>
      <p:sp>
        <p:nvSpPr>
          <p:cNvPr id="8" name="bullets_230"/>
          <p:cNvSpPr txBox="1"/>
          <p:nvPr/>
        </p:nvSpPr>
        <p:spPr>
          <a:xfrm>
            <a:off x="822960" y="438912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Retraining / architecture search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Hardware build and field trials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Depth sensing (distance from box size only)</a:t>
            </a:r>
            <a:endParaRPr lang="en-US" sz="1500" dirty="0"/>
          </a:p>
        </p:txBody>
      </p:sp>
      <p:sp>
        <p:nvSpPr>
          <p:cNvPr id="9" name="card_231"/>
          <p:cNvSpPr/>
          <p:nvPr/>
        </p:nvSpPr>
        <p:spPr>
          <a:xfrm>
            <a:off x="6263640" y="1325880"/>
            <a:ext cx="5376672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ircle_232"/>
          <p:cNvSpPr/>
          <p:nvPr/>
        </p:nvSpPr>
        <p:spPr>
          <a:xfrm>
            <a:off x="6446520" y="1463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circlelabel_233"/>
          <p:cNvSpPr txBox="1"/>
          <p:nvPr/>
        </p:nvSpPr>
        <p:spPr>
          <a:xfrm>
            <a:off x="644652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</a:t>
            </a:r>
            <a:endParaRPr lang="en-US" sz="1800" dirty="0"/>
          </a:p>
        </p:txBody>
      </p:sp>
      <p:sp>
        <p:nvSpPr>
          <p:cNvPr id="12" name="text_234"/>
          <p:cNvSpPr txBox="1"/>
          <p:nvPr/>
        </p:nvSpPr>
        <p:spPr>
          <a:xfrm>
            <a:off x="7178040" y="148132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Member A: Detection · XAI · evaluation · pipeline</a:t>
            </a:r>
            <a:endParaRPr lang="en-US" sz="1600" dirty="0"/>
          </a:p>
        </p:txBody>
      </p:sp>
      <p:sp>
        <p:nvSpPr>
          <p:cNvPr id="13" name="bullets_235"/>
          <p:cNvSpPr txBox="1"/>
          <p:nvPr/>
        </p:nvSpPr>
        <p:spPr>
          <a:xfrm>
            <a:off x="7178040" y="205740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Detector wrapper and baseline evaluation</a:t>
            </a:r>
            <a:endParaRPr lang="en-US" sz="14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Detector explainers</a:t>
            </a:r>
            <a:endParaRPr lang="en-US" sz="14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Shared evaluation harness</a:t>
            </a:r>
            <a:endParaRPr lang="en-US" sz="14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Benchmark, hard cases, explanation check</a:t>
            </a:r>
            <a:endParaRPr lang="en-US" sz="14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Runtime pipeline</a:t>
            </a:r>
            <a:endParaRPr lang="en-US" sz="1400" dirty="0"/>
          </a:p>
        </p:txBody>
      </p:sp>
      <p:sp>
        <p:nvSpPr>
          <p:cNvPr id="14" name="card_236"/>
          <p:cNvSpPr/>
          <p:nvPr/>
        </p:nvSpPr>
        <p:spPr>
          <a:xfrm>
            <a:off x="6263640" y="3611880"/>
            <a:ext cx="5376672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circle_237"/>
          <p:cNvSpPr/>
          <p:nvPr/>
        </p:nvSpPr>
        <p:spPr>
          <a:xfrm>
            <a:off x="6446520" y="374904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circlelabel_238"/>
          <p:cNvSpPr txBox="1"/>
          <p:nvPr/>
        </p:nvSpPr>
        <p:spPr>
          <a:xfrm>
            <a:off x="644652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</a:t>
            </a:r>
            <a:endParaRPr lang="en-US" sz="1800" dirty="0"/>
          </a:p>
        </p:txBody>
      </p:sp>
      <p:sp>
        <p:nvSpPr>
          <p:cNvPr id="17" name="text_239"/>
          <p:cNvSpPr txBox="1"/>
          <p:nvPr/>
        </p:nvSpPr>
        <p:spPr>
          <a:xfrm>
            <a:off x="7178040" y="376732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Member B: Venom classification · application</a:t>
            </a:r>
            <a:endParaRPr lang="en-US" sz="1600" dirty="0"/>
          </a:p>
        </p:txBody>
      </p:sp>
      <p:sp>
        <p:nvSpPr>
          <p:cNvPr id="18" name="bullets_240"/>
          <p:cNvSpPr txBox="1"/>
          <p:nvPr/>
        </p:nvSpPr>
        <p:spPr>
          <a:xfrm>
            <a:off x="7178040" y="434340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Species-labelled dataset, venom mapping</a:t>
            </a:r>
            <a:endParaRPr lang="en-US" sz="14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Venom classifier</a:t>
            </a:r>
            <a:endParaRPr lang="en-US" sz="14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Classifier explainers (shared interface)</a:t>
            </a:r>
            <a:endParaRPr lang="en-US" sz="14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Classifier XAI benchmark</a:t>
            </a:r>
            <a:endParaRPr lang="en-US" sz="14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Demonstration app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Thank you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3375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Questions on objectives, dataset or methodology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nakeGuard">
  <a:themeElements>
    <a:clrScheme name="SnakeGuard">
      <a:dk1>
        <a:srgbClr val="1B2A22"/>
      </a:dk1>
      <a:lt1>
        <a:srgbClr val="FFFFFF"/>
      </a:lt1>
      <a:dk2>
        <a:srgbClr val="2C5F2D"/>
      </a:dk2>
      <a:lt2>
        <a:srgbClr val="EEF3EA"/>
      </a:lt2>
      <a:accent1>
        <a:srgbClr val="2C5F2D"/>
      </a:accent1>
      <a:accent2>
        <a:srgbClr val="97BC62"/>
      </a:accent2>
      <a:accent3>
        <a:srgbClr val="E0A030"/>
      </a:accent3>
      <a:accent4>
        <a:srgbClr val="C0392B"/>
      </a:accent4>
      <a:accent5>
        <a:srgbClr val="2E86C1"/>
      </a:accent5>
      <a:accent6>
        <a:srgbClr val="5D6D7E"/>
      </a:accent6>
      <a:hlink>
        <a:srgbClr val="2E86C1"/>
      </a:hlink>
      <a:folHlink>
        <a:srgbClr val="6D2E46"/>
      </a:folHlink>
    </a:clrScheme>
    <a:fontScheme name="SnakeGuar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SnakeGuard – Review 2</dc:title>
  <dc:subject>PptxGenJS Presentation</dc:subject>
  <dc:creator>SnakeGuard team</dc:creator>
  <cp:lastModifiedBy>SnakeGuard team</cp:lastModifiedBy>
  <cp:revision>1</cp:revision>
  <dcterms:created xsi:type="dcterms:W3CDTF">2026-10-15T04:56:44Z</dcterms:created>
  <dcterms:modified xsi:type="dcterms:W3CDTF">2026-10-15T04:56:44Z</dcterms:modified>
</cp:coreProperties>
</file>