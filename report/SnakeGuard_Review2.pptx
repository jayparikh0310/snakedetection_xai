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80" r:id="rId24"/>
    <p:sldId id="281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E630DDC-7FD4-4895-8700-2DE713E3B7CF}">
          <p14:sldIdLst>
            <p14:sldId id="256"/>
            <p14:sldId id="257"/>
          </p14:sldIdLst>
        </p14:section>
        <p14:section name="Objectives" id="{50A46399-B8AE-AB33-AEC9-1EC39190A6E7}">
          <p14:sldIdLst>
            <p14:sldId id="258"/>
            <p14:sldId id="259"/>
            <p14:sldId id="260"/>
            <p14:sldId id="261"/>
            <p14:sldId id="262"/>
          </p14:sldIdLst>
        </p14:section>
        <p14:section name="Dataset" id="{EB6C0D2E-2276-DB3F-F99A-21338E4DC206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Methodology" id="{FFA0AAAE-4395-BCF7-2987-4F51EF2C0CF6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9"/>
            <p14:sldId id="280"/>
            <p14:sldId id="281"/>
          </p14:sldIdLst>
        </p14:section>
        <p14:section name="Close" id="{E01F5EC9-FE65-B8AE-5387-F59201C44041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48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2C5F2D"/>
                </a:solidFill>
                <a:latin typeface="+mn-lt"/>
              </a:rPr>
              <a:t>Images per source block (approx.)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7C-47C9-B495-3B00366D897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27C-47C9-B495-3B00366D897B}"/>
              </c:ext>
            </c:extLst>
          </c:dPt>
          <c:dPt>
            <c:idx val="2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7C-47C9-B495-3B00366D897B}"/>
              </c:ext>
            </c:extLst>
          </c:dPt>
          <c:dPt>
            <c:idx val="3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27C-47C9-B495-3B00366D897B}"/>
              </c:ext>
            </c:extLst>
          </c:dPt>
          <c:dPt>
            <c:idx val="4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27C-47C9-B495-3B00366D897B}"/>
              </c:ext>
            </c:extLst>
          </c:dPt>
          <c:dPt>
            <c:idx val="5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27C-47C9-B495-3B00366D897B}"/>
              </c:ext>
            </c:extLst>
          </c:dPt>
          <c:dPt>
            <c:idx val="6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27C-47C9-B495-3B00366D897B}"/>
              </c:ext>
            </c:extLst>
          </c:dPt>
          <c:dPt>
            <c:idx val="7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27C-47C9-B495-3B00366D89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Wild snakes (iNaturalist-style)</c:v>
                </c:pt>
                <c:pt idx="1">
                  <c:v>Snakes (Roboflow 1080²)</c:v>
                </c:pt>
                <c:pt idx="2">
                  <c:v>Belts</c:v>
                </c:pt>
                <c:pt idx="3">
                  <c:v>Mangrove roots</c:v>
                </c:pt>
                <c:pt idx="4">
                  <c:v>Pipes</c:v>
                </c:pt>
                <c:pt idx="5">
                  <c:v>Fire-hose cabinets</c:v>
                </c:pt>
                <c:pt idx="6">
                  <c:v>Fallen trees, roots</c:v>
                </c:pt>
                <c:pt idx="7">
                  <c:v>Underwater pipes, ropes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13700</c:v>
                </c:pt>
                <c:pt idx="1">
                  <c:v>1512</c:v>
                </c:pt>
                <c:pt idx="2">
                  <c:v>2900</c:v>
                </c:pt>
                <c:pt idx="3">
                  <c:v>1220</c:v>
                </c:pt>
                <c:pt idx="4">
                  <c:v>1170</c:v>
                </c:pt>
                <c:pt idx="5">
                  <c:v>1150</c:v>
                </c:pt>
                <c:pt idx="6">
                  <c:v>820</c:v>
                </c:pt>
                <c:pt idx="7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27C-47C9-B495-3B00366D89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2C5F2D"/>
                </a:solidFill>
                <a:latin typeface="+mn-lt"/>
              </a:rPr>
              <a:t>Annotated objects per split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snake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12086</c:v>
                </c:pt>
                <c:pt idx="1">
                  <c:v>1138</c:v>
                </c:pt>
                <c:pt idx="2">
                  <c:v>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B-4748-A2C4-C01C4561B0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look-alike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9394</c:v>
                </c:pt>
                <c:pt idx="1">
                  <c:v>1370</c:v>
                </c:pt>
                <c:pt idx="2">
                  <c:v>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CB-4748-A2C4-C01C4561B0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45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three topics of this review: objectives, the dataset and how we selected and understood it, and the complete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Snakebite is a major hazard for farmers. Existing systems are trained on snake-only data and none explains its decisions. Our system adds an explicit look-alike class and a validated explainability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aim, then three pillars. The key word is validate: we do not trust a heatmap because it looks plausible; we test it quantitatively.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objectives, each with a measurable success criterion (details in the report, Table 2.1). O1–O7 are Member A's detector and pipeline work; O8 is Member B's venom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questions structure the methodology. Every metric we compute answers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what is not in this phase: no retraining, no hardware build, no field trials. The detector is frozen so the XAI work explains a fixed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dataset has natural snakes plus an explicit class of look-alikes at this scale, so we merged public sources. This directly addresses the dataset gap from the literature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were renamed during merging, so we reconstructed the composition from the data: each source shows up as a block of image IDs with one fixed resolution. Exact links are in report/dataset_sources.md.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look-alikes sampled across the ID range; the source blocks are visible (belts, fallen trees, hose cabinets, pipes, mangrove roots, ropes). Right: snakes, with many species and backgrounds.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23,307 images, 24,937 objects. Both classes are present in every split (55 : 45). Labels are YOLO format: mostly boxes, about a quarter polygons, which we later use as precise masks for XAI.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Snakes tend to fill the frame (median 33 %), look-alikes are smaller (18 %). Most images hold one object. Small, distant objects are the hard case, which is why the pipeline has a small-object filter and a proximity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risks of merged datasets. Shortcut: resolution alone predicts the class for 99.4 % of images; the network never sees raw resolution, but source style could leak, and our localisation metrics test exactly that. Leakage: only 20 test images have a verified near-twin; results are checked with and without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 from the proposal, with the explainability and validation layer attached to the safety-critical Detect stage. The validated method feeds back into the device as its default explainer.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Nano model for an embedded wearable: 2.58 M parameters. Three output scales; P3 sees small objects, P5 large ones. The model is frozen for the XAI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outputs hundreds of boxes, so confidence has to be defined per detection. We use the D-RISE similarity. It equals the detection's confidence on the original image and keeps following the object under perturbation. The same score is used by every method and every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proposal asks for methods that cross-check each other. Activation methods see what the network responds to; gradient methods see what drives this detection; perturbation methods measure the model's response directly. SHAP and LIME are set aside for the detector because they assume single-label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coarse layer (P5, 20×20 grid) cannot resolve a thin snake. We hook all three neck outputs, normalise each map and fuse them. Single-scale P3, P4 and P5 variants are kept as ablations to test the proposal's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explanation is judged by tests, not by how plausible it looks. Faithfulness is the main axis; the others check localisation, agreement, sanity, stability and cost. Means come with 95 % bootstrap intervals and paired Wilcoxon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Matched pairs: pair each look-alike with the snake the detector itself finds most similar, and compare explanations side by side. Verification: test whether explanation features flag wrong detections better than confidence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proposal's stages around the detector. Safety bias in conflict resolution; temporal confirmation against one-frame false alarms; proximity from box size because the device has no depth sensor; one 0–100 threat score drives the beep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phases. A builds the shared harness, so B's classifier XAI is evaluated on exactly the same protocol. Integration and reporting are joint.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answers to likely questions are in Chapter 5 of the Review-2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2024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92024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SnakeGuard ·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SnakeGuard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Explainable snake vs. look-alike detection for an ankle-worn early-warning system</a:t>
            </a:r>
            <a:endParaRPr lang="en-US" sz="2000" dirty="0"/>
          </a:p>
        </p:txBody>
      </p:sp>
      <p:sp>
        <p:nvSpPr>
          <p:cNvPr id="4" name="text_1"/>
          <p:cNvSpPr txBox="1"/>
          <p:nvPr/>
        </p:nvSpPr>
        <p:spPr>
          <a:xfrm>
            <a:off x="54864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Review 2 · Objectives · Dataset Selection &amp; Understanding · Methodology</a:t>
            </a:r>
            <a:endParaRPr lang="en-US" sz="1600" dirty="0"/>
          </a:p>
        </p:txBody>
      </p:sp>
      <p:sp>
        <p:nvSpPr>
          <p:cNvPr id="5" name="text_2"/>
          <p:cNvSpPr txBox="1"/>
          <p:nvPr/>
        </p:nvSpPr>
        <p:spPr>
          <a:xfrm>
            <a:off x="54864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[Member A name] · [Member B name]   |   Guide: [Guide name]   | 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Why SnakeGuard</a:t>
            </a:r>
            <a:endParaRPr lang="en-US" sz="3200" dirty="0"/>
          </a:p>
        </p:txBody>
      </p:sp>
      <p:sp>
        <p:nvSpPr>
          <p:cNvPr id="4" name="card_3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_4"/>
          <p:cNvSpPr txBox="1"/>
          <p:nvPr/>
        </p:nvSpPr>
        <p:spPr>
          <a:xfrm>
            <a:off x="7772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</a:t>
            </a:r>
            <a:endParaRPr lang="en-US" sz="4400" dirty="0"/>
          </a:p>
        </p:txBody>
      </p:sp>
      <p:sp>
        <p:nvSpPr>
          <p:cNvPr id="6" name="text_5"/>
          <p:cNvSpPr txBox="1"/>
          <p:nvPr/>
        </p:nvSpPr>
        <p:spPr>
          <a:xfrm>
            <a:off x="77724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snakebites per year worldwide (WHO)</a:t>
            </a:r>
            <a:endParaRPr lang="en-US" sz="1400" dirty="0"/>
          </a:p>
        </p:txBody>
      </p:sp>
      <p:sp>
        <p:nvSpPr>
          <p:cNvPr id="7" name="card_6"/>
          <p:cNvSpPr/>
          <p:nvPr/>
        </p:nvSpPr>
        <p:spPr>
          <a:xfrm>
            <a:off x="3355848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_7"/>
          <p:cNvSpPr txBox="1"/>
          <p:nvPr/>
        </p:nvSpPr>
        <p:spPr>
          <a:xfrm>
            <a:off x="3584448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 k</a:t>
            </a:r>
            <a:endParaRPr lang="en-US" sz="4400" dirty="0"/>
          </a:p>
        </p:txBody>
      </p:sp>
      <p:sp>
        <p:nvSpPr>
          <p:cNvPr id="9" name="text_8"/>
          <p:cNvSpPr txBox="1"/>
          <p:nvPr/>
        </p:nvSpPr>
        <p:spPr>
          <a:xfrm>
            <a:off x="3584448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deaths per year, mostly rural farmers</a:t>
            </a:r>
            <a:endParaRPr lang="en-US" sz="1400" dirty="0"/>
          </a:p>
        </p:txBody>
      </p:sp>
      <p:sp>
        <p:nvSpPr>
          <p:cNvPr id="10" name="card_9"/>
          <p:cNvSpPr/>
          <p:nvPr/>
        </p:nvSpPr>
        <p:spPr>
          <a:xfrm>
            <a:off x="6163056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_10"/>
          <p:cNvSpPr txBox="1"/>
          <p:nvPr/>
        </p:nvSpPr>
        <p:spPr>
          <a:xfrm>
            <a:off x="6391656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8</a:t>
            </a:r>
            <a:endParaRPr lang="en-US" sz="4400" dirty="0"/>
          </a:p>
        </p:txBody>
      </p:sp>
      <p:sp>
        <p:nvSpPr>
          <p:cNvPr id="12" name="text_11"/>
          <p:cNvSpPr txBox="1"/>
          <p:nvPr/>
        </p:nvSpPr>
        <p:spPr>
          <a:xfrm>
            <a:off x="6391656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prior systems train on snake-only data</a:t>
            </a:r>
            <a:endParaRPr lang="en-US" sz="1400" dirty="0"/>
          </a:p>
        </p:txBody>
      </p:sp>
      <p:sp>
        <p:nvSpPr>
          <p:cNvPr id="13" name="card_12"/>
          <p:cNvSpPr/>
          <p:nvPr/>
        </p:nvSpPr>
        <p:spPr>
          <a:xfrm>
            <a:off x="8970264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_13"/>
          <p:cNvSpPr txBox="1"/>
          <p:nvPr/>
        </p:nvSpPr>
        <p:spPr>
          <a:xfrm>
            <a:off x="9198864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8</a:t>
            </a:r>
            <a:endParaRPr lang="en-US" sz="4400" dirty="0"/>
          </a:p>
        </p:txBody>
      </p:sp>
      <p:sp>
        <p:nvSpPr>
          <p:cNvPr id="15" name="text_14"/>
          <p:cNvSpPr txBox="1"/>
          <p:nvPr/>
        </p:nvSpPr>
        <p:spPr>
          <a:xfrm>
            <a:off x="9198864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prior systems explain what the detector looks at</a:t>
            </a:r>
            <a:endParaRPr lang="en-US" sz="1400" dirty="0"/>
          </a:p>
        </p:txBody>
      </p:sp>
      <p:sp>
        <p:nvSpPr>
          <p:cNvPr id="16" name="text_15"/>
          <p:cNvSpPr txBox="1"/>
          <p:nvPr/>
        </p:nvSpPr>
        <p:spPr>
          <a:xfrm>
            <a:off x="548640" y="3931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Gap 1 – Data: </a:t>
            </a:r>
            <a:r>
              <a:rPr lang="en-US" sz="1500" dirty="0">
                <a:solidFill>
                  <a:schemeClr val="tx1"/>
                </a:solidFill>
              </a:rPr>
              <a:t>detectors never see ropes, roots or hoses, so they alarm on a garden hose as readily as on a viper.</a:t>
            </a:r>
            <a:endParaRPr lang="en-US" sz="1500" dirty="0"/>
          </a:p>
        </p:txBody>
      </p:sp>
      <p:sp>
        <p:nvSpPr>
          <p:cNvPr id="17" name="text_16"/>
          <p:cNvSpPr txBox="1"/>
          <p:nvPr/>
        </p:nvSpPr>
        <p:spPr>
          <a:xfrm>
            <a:off x="548640" y="45262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Gap 2 – Trust: </a:t>
            </a:r>
            <a:r>
              <a:rPr lang="en-US" sz="1500" dirty="0">
                <a:solidFill>
                  <a:schemeClr val="tx1"/>
                </a:solidFill>
              </a:rPr>
              <a:t>a bare confidence score cannot reveal a spurious correlation or explain a failure. A warning device nobody trusts is one nobody keeps wearing.</a:t>
            </a:r>
            <a:endParaRPr lang="en-US" sz="1500" dirty="0"/>
          </a:p>
        </p:txBody>
      </p:sp>
      <p:sp>
        <p:nvSpPr>
          <p:cNvPr id="18" name="text_17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SnakeGuard: </a:t>
            </a:r>
            <a:r>
              <a:rPr lang="en-US" sz="1500" dirty="0">
                <a:solidFill>
                  <a:schemeClr val="tx2"/>
                </a:solidFill>
              </a:rPr>
              <a:t>ankle camera → detect snake vs. look-alike → classify venom → estimate proximity → glanceless beep, with an explainability layer that validates the detector.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2024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Clear Objectives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92024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Aim · specific objectives · research questions · scope</a:t>
            </a:r>
            <a:endParaRPr lang="en-US" sz="1800" dirty="0"/>
          </a:p>
        </p:txBody>
      </p:sp>
      <p:sp>
        <p:nvSpPr>
          <p:cNvPr id="4" name="circle_18"/>
          <p:cNvSpPr/>
          <p:nvPr/>
        </p:nvSpPr>
        <p:spPr>
          <a:xfrm>
            <a:off x="731520" y="26060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label_19"/>
          <p:cNvSpPr txBox="1"/>
          <p:nvPr/>
        </p:nvSpPr>
        <p:spPr>
          <a:xfrm>
            <a:off x="73152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Aim: detect, explain, validate</a:t>
            </a:r>
            <a:endParaRPr lang="en-US" sz="3200" dirty="0"/>
          </a:p>
        </p:txBody>
      </p:sp>
      <p:sp>
        <p:nvSpPr>
          <p:cNvPr id="4" name="card_20"/>
          <p:cNvSpPr/>
          <p:nvPr/>
        </p:nvSpPr>
        <p:spPr>
          <a:xfrm>
            <a:off x="548640" y="132588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_21"/>
          <p:cNvSpPr txBox="1"/>
          <p:nvPr/>
        </p:nvSpPr>
        <p:spPr>
          <a:xfrm>
            <a:off x="822960" y="1463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tx2"/>
                </a:solidFill>
              </a:rPr>
              <a:t>Build a trustworthy snake-detection pipeline for a wearable device that separates real snakes from look-alikes, explains every detection, and quantitatively validates which explanation method can be trusted before deployment.</a:t>
            </a:r>
            <a:endParaRPr lang="en-US" sz="1800" dirty="0"/>
          </a:p>
        </p:txBody>
      </p:sp>
      <p:sp>
        <p:nvSpPr>
          <p:cNvPr id="6" name="card_22"/>
          <p:cNvSpPr/>
          <p:nvPr/>
        </p:nvSpPr>
        <p:spPr>
          <a:xfrm>
            <a:off x="548640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ircle_23"/>
          <p:cNvSpPr/>
          <p:nvPr/>
        </p:nvSpPr>
        <p:spPr>
          <a:xfrm>
            <a:off x="822960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irclelabel_24"/>
          <p:cNvSpPr txBox="1"/>
          <p:nvPr/>
        </p:nvSpPr>
        <p:spPr>
          <a:xfrm>
            <a:off x="82296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_25"/>
          <p:cNvSpPr txBox="1"/>
          <p:nvPr/>
        </p:nvSpPr>
        <p:spPr>
          <a:xfrm>
            <a:off x="8229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200" dirty="0"/>
          </a:p>
        </p:txBody>
      </p:sp>
      <p:sp>
        <p:nvSpPr>
          <p:cNvPr id="10" name="text_26"/>
          <p:cNvSpPr txBox="1"/>
          <p:nvPr/>
        </p:nvSpPr>
        <p:spPr>
          <a:xfrm>
            <a:off x="822960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Lightweight YOLO11n detector trained on snakes and an explicit look-alike class (ropes, roots, hoses, pipes, belts).</a:t>
            </a:r>
            <a:endParaRPr lang="en-US" sz="1500" dirty="0"/>
          </a:p>
        </p:txBody>
      </p:sp>
      <p:sp>
        <p:nvSpPr>
          <p:cNvPr id="11" name="card_27"/>
          <p:cNvSpPr/>
          <p:nvPr/>
        </p:nvSpPr>
        <p:spPr>
          <a:xfrm>
            <a:off x="4279392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ircle_28"/>
          <p:cNvSpPr/>
          <p:nvPr/>
        </p:nvSpPr>
        <p:spPr>
          <a:xfrm>
            <a:off x="4553712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irclelabel_29"/>
          <p:cNvSpPr txBox="1"/>
          <p:nvPr/>
        </p:nvSpPr>
        <p:spPr>
          <a:xfrm>
            <a:off x="4553712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_30"/>
          <p:cNvSpPr txBox="1"/>
          <p:nvPr/>
        </p:nvSpPr>
        <p:spPr>
          <a:xfrm>
            <a:off x="4553712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200" dirty="0"/>
          </a:p>
        </p:txBody>
      </p:sp>
      <p:sp>
        <p:nvSpPr>
          <p:cNvPr id="15" name="text_31"/>
          <p:cNvSpPr txBox="1"/>
          <p:nvPr/>
        </p:nvSpPr>
        <p:spPr>
          <a:xfrm>
            <a:off x="4553712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Several independent XAI families explain each detection: activation, gradient (multi-scale) and perturbation methods.</a:t>
            </a:r>
            <a:endParaRPr lang="en-US" sz="1500" dirty="0"/>
          </a:p>
        </p:txBody>
      </p:sp>
      <p:sp>
        <p:nvSpPr>
          <p:cNvPr id="16" name="card_32"/>
          <p:cNvSpPr/>
          <p:nvPr/>
        </p:nvSpPr>
        <p:spPr>
          <a:xfrm>
            <a:off x="8010144" y="269748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ircle_33"/>
          <p:cNvSpPr/>
          <p:nvPr/>
        </p:nvSpPr>
        <p:spPr>
          <a:xfrm>
            <a:off x="8284464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circlelabel_34"/>
          <p:cNvSpPr txBox="1"/>
          <p:nvPr/>
        </p:nvSpPr>
        <p:spPr>
          <a:xfrm>
            <a:off x="8284464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_35"/>
          <p:cNvSpPr txBox="1"/>
          <p:nvPr/>
        </p:nvSpPr>
        <p:spPr>
          <a:xfrm>
            <a:off x="828446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200" dirty="0"/>
          </a:p>
        </p:txBody>
      </p:sp>
      <p:sp>
        <p:nvSpPr>
          <p:cNvPr id="20" name="text_36"/>
          <p:cNvSpPr txBox="1"/>
          <p:nvPr/>
        </p:nvSpPr>
        <p:spPr>
          <a:xfrm>
            <a:off x="8284464" y="4251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Objective tests decide which explanation to trust: faithfulness vs. random, localisation, sanity, stability, cost.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Specific objectives</a:t>
            </a:r>
            <a:endParaRPr lang="en-US" sz="3200" dirty="0"/>
          </a:p>
        </p:txBody>
      </p:sp>
      <p:sp>
        <p:nvSpPr>
          <p:cNvPr id="4" name="card_37"/>
          <p:cNvSpPr/>
          <p:nvPr/>
        </p:nvSpPr>
        <p:spPr>
          <a:xfrm>
            <a:off x="548640" y="132588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_38"/>
          <p:cNvSpPr/>
          <p:nvPr/>
        </p:nvSpPr>
        <p:spPr>
          <a:xfrm>
            <a:off x="731520" y="15087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label_39"/>
          <p:cNvSpPr txBox="1"/>
          <p:nvPr/>
        </p:nvSpPr>
        <p:spPr>
          <a:xfrm>
            <a:off x="7315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O1</a:t>
            </a:r>
            <a:endParaRPr lang="en-US" sz="1500" dirty="0"/>
          </a:p>
        </p:txBody>
      </p:sp>
      <p:sp>
        <p:nvSpPr>
          <p:cNvPr id="7" name="text_40"/>
          <p:cNvSpPr txBox="1"/>
          <p:nvPr/>
        </p:nvSpPr>
        <p:spPr>
          <a:xfrm>
            <a:off x="160020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Dataset</a:t>
            </a:r>
            <a:endParaRPr lang="en-US" sz="1700" dirty="0"/>
          </a:p>
        </p:txBody>
      </p:sp>
      <p:sp>
        <p:nvSpPr>
          <p:cNvPr id="8" name="text_41"/>
          <p:cNvSpPr txBox="1"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Two-class dataset with explicit look-alikes; documented, audited</a:t>
            </a:r>
            <a:endParaRPr lang="en-US" sz="1400" dirty="0"/>
          </a:p>
        </p:txBody>
      </p:sp>
      <p:sp>
        <p:nvSpPr>
          <p:cNvPr id="9" name="card_42"/>
          <p:cNvSpPr/>
          <p:nvPr/>
        </p:nvSpPr>
        <p:spPr>
          <a:xfrm>
            <a:off x="6126480" y="1325880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ircle_43"/>
          <p:cNvSpPr/>
          <p:nvPr/>
        </p:nvSpPr>
        <p:spPr>
          <a:xfrm>
            <a:off x="6309360" y="15087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irclelabel_44"/>
          <p:cNvSpPr txBox="1"/>
          <p:nvPr/>
        </p:nvSpPr>
        <p:spPr>
          <a:xfrm>
            <a:off x="630936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O2</a:t>
            </a:r>
            <a:endParaRPr lang="en-US" sz="1500" dirty="0"/>
          </a:p>
        </p:txBody>
      </p:sp>
      <p:sp>
        <p:nvSpPr>
          <p:cNvPr id="12" name="text_45"/>
          <p:cNvSpPr txBox="1"/>
          <p:nvPr/>
        </p:nvSpPr>
        <p:spPr>
          <a:xfrm>
            <a:off x="717804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Detector</a:t>
            </a:r>
            <a:endParaRPr lang="en-US" sz="1700" dirty="0"/>
          </a:p>
        </p:txBody>
      </p:sp>
      <p:sp>
        <p:nvSpPr>
          <p:cNvPr id="13" name="text_46"/>
          <p:cNvSpPr txBox="1"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Edge-ready YOLO11n; mAP and error taxonomy on held-out test</a:t>
            </a:r>
            <a:endParaRPr lang="en-US" sz="1400" dirty="0"/>
          </a:p>
        </p:txBody>
      </p:sp>
      <p:sp>
        <p:nvSpPr>
          <p:cNvPr id="14" name="card_47"/>
          <p:cNvSpPr/>
          <p:nvPr/>
        </p:nvSpPr>
        <p:spPr>
          <a:xfrm>
            <a:off x="548640" y="2542032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circle_48"/>
          <p:cNvSpPr/>
          <p:nvPr/>
        </p:nvSpPr>
        <p:spPr>
          <a:xfrm>
            <a:off x="731520" y="272491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irclelabel_49"/>
          <p:cNvSpPr txBox="1"/>
          <p:nvPr/>
        </p:nvSpPr>
        <p:spPr>
          <a:xfrm>
            <a:off x="73152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O3</a:t>
            </a:r>
            <a:endParaRPr lang="en-US" sz="1500" dirty="0"/>
          </a:p>
        </p:txBody>
      </p:sp>
      <p:sp>
        <p:nvSpPr>
          <p:cNvPr id="17" name="text_50"/>
          <p:cNvSpPr txBox="1"/>
          <p:nvPr/>
        </p:nvSpPr>
        <p:spPr>
          <a:xfrm>
            <a:off x="160020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Explainers</a:t>
            </a:r>
            <a:endParaRPr lang="en-US" sz="1700" dirty="0"/>
          </a:p>
        </p:txBody>
      </p:sp>
      <p:sp>
        <p:nvSpPr>
          <p:cNvPr id="18" name="text_51"/>
          <p:cNvSpPr txBox="1"/>
          <p:nvPr/>
        </p:nvSpPr>
        <p:spPr>
          <a:xfrm>
            <a:off x="1600200" y="3044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Activation, gradient (multi-scale) and perturbation methods, one interface</a:t>
            </a:r>
            <a:endParaRPr lang="en-US" sz="1400" dirty="0"/>
          </a:p>
        </p:txBody>
      </p:sp>
      <p:sp>
        <p:nvSpPr>
          <p:cNvPr id="19" name="card_52"/>
          <p:cNvSpPr/>
          <p:nvPr/>
        </p:nvSpPr>
        <p:spPr>
          <a:xfrm>
            <a:off x="6126480" y="2542032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ircle_53"/>
          <p:cNvSpPr/>
          <p:nvPr/>
        </p:nvSpPr>
        <p:spPr>
          <a:xfrm>
            <a:off x="6309360" y="272491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irclelabel_54"/>
          <p:cNvSpPr txBox="1"/>
          <p:nvPr/>
        </p:nvSpPr>
        <p:spPr>
          <a:xfrm>
            <a:off x="630936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O4</a:t>
            </a:r>
            <a:endParaRPr lang="en-US" sz="1500" dirty="0"/>
          </a:p>
        </p:txBody>
      </p:sp>
      <p:sp>
        <p:nvSpPr>
          <p:cNvPr id="22" name="text_55"/>
          <p:cNvSpPr txBox="1"/>
          <p:nvPr/>
        </p:nvSpPr>
        <p:spPr>
          <a:xfrm>
            <a:off x="717804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Objective comparison</a:t>
            </a:r>
            <a:endParaRPr lang="en-US" sz="1700" dirty="0"/>
          </a:p>
        </p:txBody>
      </p:sp>
      <p:sp>
        <p:nvSpPr>
          <p:cNvPr id="23" name="text_56"/>
          <p:cNvSpPr txBox="1"/>
          <p:nvPr/>
        </p:nvSpPr>
        <p:spPr>
          <a:xfrm>
            <a:off x="7178040" y="3044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Faithfulness, localisation, agreement, sanity, stability, cost</a:t>
            </a:r>
            <a:endParaRPr lang="en-US" sz="1400" dirty="0"/>
          </a:p>
        </p:txBody>
      </p:sp>
      <p:sp>
        <p:nvSpPr>
          <p:cNvPr id="24" name="card_57"/>
          <p:cNvSpPr/>
          <p:nvPr/>
        </p:nvSpPr>
        <p:spPr>
          <a:xfrm>
            <a:off x="548640" y="3758184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circle_58"/>
          <p:cNvSpPr/>
          <p:nvPr/>
        </p:nvSpPr>
        <p:spPr>
          <a:xfrm>
            <a:off x="731520" y="394106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circlelabel_59"/>
          <p:cNvSpPr txBox="1"/>
          <p:nvPr/>
        </p:nvSpPr>
        <p:spPr>
          <a:xfrm>
            <a:off x="73152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O5</a:t>
            </a:r>
            <a:endParaRPr lang="en-US" sz="1500" dirty="0"/>
          </a:p>
        </p:txBody>
      </p:sp>
      <p:sp>
        <p:nvSpPr>
          <p:cNvPr id="27" name="text_60"/>
          <p:cNvSpPr txBox="1"/>
          <p:nvPr/>
        </p:nvSpPr>
        <p:spPr>
          <a:xfrm>
            <a:off x="1600200" y="3913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Hard cases</a:t>
            </a:r>
            <a:endParaRPr lang="en-US" sz="1700" dirty="0"/>
          </a:p>
        </p:txBody>
      </p:sp>
      <p:sp>
        <p:nvSpPr>
          <p:cNvPr id="28" name="text_61"/>
          <p:cNvSpPr txBox="1"/>
          <p:nvPr/>
        </p:nvSpPr>
        <p:spPr>
          <a:xfrm>
            <a:off x="1600200" y="4261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Matched snake vs. look-alike pairs: why right, why wrong</a:t>
            </a:r>
            <a:endParaRPr lang="en-US" sz="1400" dirty="0"/>
          </a:p>
        </p:txBody>
      </p:sp>
      <p:sp>
        <p:nvSpPr>
          <p:cNvPr id="29" name="card_62"/>
          <p:cNvSpPr/>
          <p:nvPr/>
        </p:nvSpPr>
        <p:spPr>
          <a:xfrm>
            <a:off x="6126480" y="3758184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circle_63"/>
          <p:cNvSpPr/>
          <p:nvPr/>
        </p:nvSpPr>
        <p:spPr>
          <a:xfrm>
            <a:off x="6309360" y="394106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circlelabel_64"/>
          <p:cNvSpPr txBox="1"/>
          <p:nvPr/>
        </p:nvSpPr>
        <p:spPr>
          <a:xfrm>
            <a:off x="630936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O6</a:t>
            </a:r>
            <a:endParaRPr lang="en-US" sz="1500" dirty="0"/>
          </a:p>
        </p:txBody>
      </p:sp>
      <p:sp>
        <p:nvSpPr>
          <p:cNvPr id="32" name="text_65"/>
          <p:cNvSpPr txBox="1"/>
          <p:nvPr/>
        </p:nvSpPr>
        <p:spPr>
          <a:xfrm>
            <a:off x="7178040" y="3913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Validation signal</a:t>
            </a:r>
            <a:endParaRPr lang="en-US" sz="1700" dirty="0"/>
          </a:p>
        </p:txBody>
      </p:sp>
      <p:sp>
        <p:nvSpPr>
          <p:cNvPr id="33" name="text_66"/>
          <p:cNvSpPr txBox="1"/>
          <p:nvPr/>
        </p:nvSpPr>
        <p:spPr>
          <a:xfrm>
            <a:off x="7178040" y="4261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Can explanations flag wrong detections better than confidence?</a:t>
            </a:r>
            <a:endParaRPr lang="en-US" sz="1400" dirty="0"/>
          </a:p>
        </p:txBody>
      </p:sp>
      <p:sp>
        <p:nvSpPr>
          <p:cNvPr id="34" name="card_67"/>
          <p:cNvSpPr/>
          <p:nvPr/>
        </p:nvSpPr>
        <p:spPr>
          <a:xfrm>
            <a:off x="548640" y="4974336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circle_68"/>
          <p:cNvSpPr/>
          <p:nvPr/>
        </p:nvSpPr>
        <p:spPr>
          <a:xfrm>
            <a:off x="731520" y="5157216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circlelabel_69"/>
          <p:cNvSpPr txBox="1"/>
          <p:nvPr/>
        </p:nvSpPr>
        <p:spPr>
          <a:xfrm>
            <a:off x="731520" y="5157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O7</a:t>
            </a:r>
            <a:endParaRPr lang="en-US" sz="1500" dirty="0"/>
          </a:p>
        </p:txBody>
      </p:sp>
      <p:sp>
        <p:nvSpPr>
          <p:cNvPr id="37" name="text_70"/>
          <p:cNvSpPr txBox="1"/>
          <p:nvPr/>
        </p:nvSpPr>
        <p:spPr>
          <a:xfrm>
            <a:off x="1600200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Runtime pipeline</a:t>
            </a:r>
            <a:endParaRPr lang="en-US" sz="1700" dirty="0"/>
          </a:p>
        </p:txBody>
      </p:sp>
      <p:sp>
        <p:nvSpPr>
          <p:cNvPr id="38" name="text_71"/>
          <p:cNvSpPr txBox="1"/>
          <p:nvPr/>
        </p:nvSpPr>
        <p:spPr>
          <a:xfrm>
            <a:off x="1600200" y="54772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Confirmation, proximity, 0–100 threat score, beep rate</a:t>
            </a:r>
            <a:endParaRPr lang="en-US" sz="1400" dirty="0"/>
          </a:p>
        </p:txBody>
      </p:sp>
      <p:sp>
        <p:nvSpPr>
          <p:cNvPr id="39" name="card_72"/>
          <p:cNvSpPr/>
          <p:nvPr/>
        </p:nvSpPr>
        <p:spPr>
          <a:xfrm>
            <a:off x="6126480" y="4974336"/>
            <a:ext cx="5349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circle_73"/>
          <p:cNvSpPr/>
          <p:nvPr/>
        </p:nvSpPr>
        <p:spPr>
          <a:xfrm>
            <a:off x="6309360" y="5157216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circlelabel_74"/>
          <p:cNvSpPr txBox="1"/>
          <p:nvPr/>
        </p:nvSpPr>
        <p:spPr>
          <a:xfrm>
            <a:off x="6309360" y="5157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O8</a:t>
            </a:r>
            <a:endParaRPr lang="en-US" sz="1500" dirty="0"/>
          </a:p>
        </p:txBody>
      </p:sp>
      <p:sp>
        <p:nvSpPr>
          <p:cNvPr id="42" name="text_75"/>
          <p:cNvSpPr txBox="1"/>
          <p:nvPr/>
        </p:nvSpPr>
        <p:spPr>
          <a:xfrm>
            <a:off x="7178040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Venom stage (B)</a:t>
            </a:r>
            <a:endParaRPr lang="en-US" sz="1700" dirty="0"/>
          </a:p>
        </p:txBody>
      </p:sp>
      <p:sp>
        <p:nvSpPr>
          <p:cNvPr id="43" name="text_76"/>
          <p:cNvSpPr txBox="1"/>
          <p:nvPr/>
        </p:nvSpPr>
        <p:spPr>
          <a:xfrm>
            <a:off x="7178040" y="54772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Venom classifier + its XAI on the shared protocol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Research questions</a:t>
            </a:r>
            <a:endParaRPr lang="en-US" sz="3200" dirty="0"/>
          </a:p>
        </p:txBody>
      </p:sp>
      <p:sp>
        <p:nvSpPr>
          <p:cNvPr id="4" name="circle_77"/>
          <p:cNvSpPr/>
          <p:nvPr/>
        </p:nvSpPr>
        <p:spPr>
          <a:xfrm>
            <a:off x="548640" y="132588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label_78"/>
          <p:cNvSpPr txBox="1"/>
          <p:nvPr/>
        </p:nvSpPr>
        <p:spPr>
          <a:xfrm>
            <a:off x="548640" y="1325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RQ1</a:t>
            </a:r>
            <a:endParaRPr lang="en-US" sz="1300" dirty="0"/>
          </a:p>
        </p:txBody>
      </p:sp>
      <p:sp>
        <p:nvSpPr>
          <p:cNvPr id="6" name="text_79"/>
          <p:cNvSpPr txBox="1"/>
          <p:nvPr/>
        </p:nvSpPr>
        <p:spPr>
          <a:xfrm>
            <a:off x="1417320" y="1344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Faithfulness</a:t>
            </a:r>
            <a:endParaRPr lang="en-US" sz="1800" dirty="0"/>
          </a:p>
        </p:txBody>
      </p:sp>
      <p:sp>
        <p:nvSpPr>
          <p:cNvPr id="7" name="text_80"/>
          <p:cNvSpPr txBox="1"/>
          <p:nvPr/>
        </p:nvSpPr>
        <p:spPr>
          <a:xfrm>
            <a:off x="3840480" y="13441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Which XAI method most faithfully explains a one-stage YOLO detector, judged against a random baseline?</a:t>
            </a:r>
            <a:endParaRPr lang="en-US" sz="1600" dirty="0"/>
          </a:p>
        </p:txBody>
      </p:sp>
      <p:sp>
        <p:nvSpPr>
          <p:cNvPr id="8" name="circle_81"/>
          <p:cNvSpPr/>
          <p:nvPr/>
        </p:nvSpPr>
        <p:spPr>
          <a:xfrm>
            <a:off x="548640" y="224028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irclelabel_82"/>
          <p:cNvSpPr txBox="1"/>
          <p:nvPr/>
        </p:nvSpPr>
        <p:spPr>
          <a:xfrm>
            <a:off x="548640" y="2240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RQ2</a:t>
            </a:r>
            <a:endParaRPr lang="en-US" sz="1300" dirty="0"/>
          </a:p>
        </p:txBody>
      </p:sp>
      <p:sp>
        <p:nvSpPr>
          <p:cNvPr id="10" name="text_83"/>
          <p:cNvSpPr txBox="1"/>
          <p:nvPr/>
        </p:nvSpPr>
        <p:spPr>
          <a:xfrm>
            <a:off x="1417320" y="2258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Localisation</a:t>
            </a:r>
            <a:endParaRPr lang="en-US" sz="1800" dirty="0"/>
          </a:p>
        </p:txBody>
      </p:sp>
      <p:sp>
        <p:nvSpPr>
          <p:cNvPr id="11" name="text_84"/>
          <p:cNvSpPr txBox="1"/>
          <p:nvPr/>
        </p:nvSpPr>
        <p:spPr>
          <a:xfrm>
            <a:off x="3840480" y="22585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Do explanations land on the snake itself (box or polygon) or on background cues?</a:t>
            </a:r>
            <a:endParaRPr lang="en-US" sz="1600" dirty="0"/>
          </a:p>
        </p:txBody>
      </p:sp>
      <p:sp>
        <p:nvSpPr>
          <p:cNvPr id="12" name="circle_85"/>
          <p:cNvSpPr/>
          <p:nvPr/>
        </p:nvSpPr>
        <p:spPr>
          <a:xfrm>
            <a:off x="548640" y="315468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irclelabel_86"/>
          <p:cNvSpPr txBox="1"/>
          <p:nvPr/>
        </p:nvSpPr>
        <p:spPr>
          <a:xfrm>
            <a:off x="548640" y="3154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RQ3</a:t>
            </a:r>
            <a:endParaRPr lang="en-US" sz="1300" dirty="0"/>
          </a:p>
        </p:txBody>
      </p:sp>
      <p:sp>
        <p:nvSpPr>
          <p:cNvPr id="14" name="text_87"/>
          <p:cNvSpPr txBox="1"/>
          <p:nvPr/>
        </p:nvSpPr>
        <p:spPr>
          <a:xfrm>
            <a:off x="1417320" y="3172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Hard cases</a:t>
            </a:r>
            <a:endParaRPr lang="en-US" sz="1800" dirty="0"/>
          </a:p>
        </p:txBody>
      </p:sp>
      <p:sp>
        <p:nvSpPr>
          <p:cNvPr id="15" name="text_88"/>
          <p:cNvSpPr txBox="1"/>
          <p:nvPr/>
        </p:nvSpPr>
        <p:spPr>
          <a:xfrm>
            <a:off x="3840480" y="31729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 matched snake / look-alike pairs, what drives correct detections and confusions?</a:t>
            </a:r>
            <a:endParaRPr lang="en-US" sz="1600" dirty="0"/>
          </a:p>
        </p:txBody>
      </p:sp>
      <p:sp>
        <p:nvSpPr>
          <p:cNvPr id="16" name="circle_89"/>
          <p:cNvSpPr/>
          <p:nvPr/>
        </p:nvSpPr>
        <p:spPr>
          <a:xfrm>
            <a:off x="548640" y="406908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irclelabel_90"/>
          <p:cNvSpPr txBox="1"/>
          <p:nvPr/>
        </p:nvSpPr>
        <p:spPr>
          <a:xfrm>
            <a:off x="548640" y="4069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RQ4</a:t>
            </a:r>
            <a:endParaRPr lang="en-US" sz="1300" dirty="0"/>
          </a:p>
        </p:txBody>
      </p:sp>
      <p:sp>
        <p:nvSpPr>
          <p:cNvPr id="18" name="text_91"/>
          <p:cNvSpPr txBox="1"/>
          <p:nvPr/>
        </p:nvSpPr>
        <p:spPr>
          <a:xfrm>
            <a:off x="1417320" y="4087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Design choices</a:t>
            </a:r>
            <a:endParaRPr lang="en-US" sz="1800" dirty="0"/>
          </a:p>
        </p:txBody>
      </p:sp>
      <p:sp>
        <p:nvSpPr>
          <p:cNvPr id="19" name="text_92"/>
          <p:cNvSpPr txBox="1"/>
          <p:nvPr/>
        </p:nvSpPr>
        <p:spPr>
          <a:xfrm>
            <a:off x="3840480" y="4087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Does multi-scale fusion beat one coarse layer? Is agreement between methods trustworthy?</a:t>
            </a:r>
            <a:endParaRPr lang="en-US" sz="1600" dirty="0"/>
          </a:p>
        </p:txBody>
      </p:sp>
      <p:sp>
        <p:nvSpPr>
          <p:cNvPr id="20" name="circle_93"/>
          <p:cNvSpPr/>
          <p:nvPr/>
        </p:nvSpPr>
        <p:spPr>
          <a:xfrm>
            <a:off x="548640" y="498348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irclelabel_94"/>
          <p:cNvSpPr txBox="1"/>
          <p:nvPr/>
        </p:nvSpPr>
        <p:spPr>
          <a:xfrm>
            <a:off x="548640" y="4983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RQ5</a:t>
            </a:r>
            <a:endParaRPr lang="en-US" sz="1300" dirty="0"/>
          </a:p>
        </p:txBody>
      </p:sp>
      <p:sp>
        <p:nvSpPr>
          <p:cNvPr id="22" name="text_95"/>
          <p:cNvSpPr txBox="1"/>
          <p:nvPr/>
        </p:nvSpPr>
        <p:spPr>
          <a:xfrm>
            <a:off x="1417320" y="50017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23" name="text_96"/>
          <p:cNvSpPr txBox="1"/>
          <p:nvPr/>
        </p:nvSpPr>
        <p:spPr>
          <a:xfrm>
            <a:off x="3840480" y="50017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Best trade-off between faithfulness, localisation, stability and runtime for the device?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 and division of work</a:t>
            </a:r>
            <a:endParaRPr lang="en-US" sz="3200" dirty="0"/>
          </a:p>
        </p:txBody>
      </p:sp>
      <p:sp>
        <p:nvSpPr>
          <p:cNvPr id="4" name="card_97"/>
          <p:cNvSpPr/>
          <p:nvPr/>
        </p:nvSpPr>
        <p:spPr>
          <a:xfrm>
            <a:off x="548640" y="1325880"/>
            <a:ext cx="53492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_98"/>
          <p:cNvSpPr txBox="1"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 scope</a:t>
            </a:r>
            <a:endParaRPr lang="en-US" sz="1900" dirty="0"/>
          </a:p>
        </p:txBody>
      </p:sp>
      <p:sp>
        <p:nvSpPr>
          <p:cNvPr id="6" name="bullets_99"/>
          <p:cNvSpPr txBox="1"/>
          <p:nvPr/>
        </p:nvSpPr>
        <p:spPr>
          <a:xfrm>
            <a:off x="822960" y="19202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Frozen YOLO11n detector on the two-class dataset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Post-hoc explanation of individual detections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Quantitative comparison of XAI methods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Runtime logic: confirmation, proximity, threat, alert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Venom-classifier interface</a:t>
            </a:r>
            <a:endParaRPr lang="en-US" sz="1500" dirty="0"/>
          </a:p>
        </p:txBody>
      </p:sp>
      <p:sp>
        <p:nvSpPr>
          <p:cNvPr id="7" name="text_100"/>
          <p:cNvSpPr txBox="1"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Out of scope (this phase)</a:t>
            </a:r>
            <a:endParaRPr lang="en-US" sz="1900" dirty="0"/>
          </a:p>
        </p:txBody>
      </p:sp>
      <p:sp>
        <p:nvSpPr>
          <p:cNvPr id="8" name="bullets_101"/>
          <p:cNvSpPr txBox="1"/>
          <p:nvPr/>
        </p:nvSpPr>
        <p:spPr>
          <a:xfrm>
            <a:off x="822960" y="4389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Retraining / architecture search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Hardware build and field trials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Depth sensing (distance from box size only)</a:t>
            </a:r>
            <a:endParaRPr lang="en-US" sz="1500" dirty="0"/>
          </a:p>
        </p:txBody>
      </p:sp>
      <p:sp>
        <p:nvSpPr>
          <p:cNvPr id="9" name="card_102"/>
          <p:cNvSpPr/>
          <p:nvPr/>
        </p:nvSpPr>
        <p:spPr>
          <a:xfrm>
            <a:off x="6263640" y="1325880"/>
            <a:ext cx="53766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ircle_103"/>
          <p:cNvSpPr/>
          <p:nvPr/>
        </p:nvSpPr>
        <p:spPr>
          <a:xfrm>
            <a:off x="644652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irclelabel_104"/>
          <p:cNvSpPr txBox="1"/>
          <p:nvPr/>
        </p:nvSpPr>
        <p:spPr>
          <a:xfrm>
            <a:off x="6446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_105"/>
          <p:cNvSpPr txBox="1"/>
          <p:nvPr/>
        </p:nvSpPr>
        <p:spPr>
          <a:xfrm>
            <a:off x="7178040" y="1481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Member A: Detection · XAI · evaluation · pipeline</a:t>
            </a:r>
            <a:endParaRPr lang="en-US" sz="1600" dirty="0"/>
          </a:p>
        </p:txBody>
      </p:sp>
      <p:sp>
        <p:nvSpPr>
          <p:cNvPr id="13" name="bullets_106"/>
          <p:cNvSpPr txBox="1"/>
          <p:nvPr/>
        </p:nvSpPr>
        <p:spPr>
          <a:xfrm>
            <a:off x="7178040" y="2057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Detector wrapper and baseline evaluation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Detector explainers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Shared evaluation harness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Benchmark, hard cases, explanation check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Runtime pipeline</a:t>
            </a:r>
            <a:endParaRPr lang="en-US" sz="1400" dirty="0"/>
          </a:p>
        </p:txBody>
      </p:sp>
      <p:sp>
        <p:nvSpPr>
          <p:cNvPr id="14" name="card_107"/>
          <p:cNvSpPr/>
          <p:nvPr/>
        </p:nvSpPr>
        <p:spPr>
          <a:xfrm>
            <a:off x="6263640" y="3611880"/>
            <a:ext cx="53766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circle_108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irclelabel_109"/>
          <p:cNvSpPr txBox="1"/>
          <p:nvPr/>
        </p:nvSpPr>
        <p:spPr>
          <a:xfrm>
            <a:off x="6446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text_110"/>
          <p:cNvSpPr txBox="1"/>
          <p:nvPr/>
        </p:nvSpPr>
        <p:spPr>
          <a:xfrm>
            <a:off x="7178040" y="3767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Member B: Venom classification · application</a:t>
            </a:r>
            <a:endParaRPr lang="en-US" sz="1600" dirty="0"/>
          </a:p>
        </p:txBody>
      </p:sp>
      <p:sp>
        <p:nvSpPr>
          <p:cNvPr id="18" name="bullets_111"/>
          <p:cNvSpPr txBox="1"/>
          <p:nvPr/>
        </p:nvSpPr>
        <p:spPr>
          <a:xfrm>
            <a:off x="7178040" y="4343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Species-labelled dataset, venom mapping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Venom classifier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Classifier explainers (shared interface)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Classifier XAI benchmark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Demonstration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2024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Dataset Selection &amp; Understanding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92024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Requirements · composition · statistics · quality audit</a:t>
            </a:r>
            <a:endParaRPr lang="en-US" sz="1800" dirty="0"/>
          </a:p>
        </p:txBody>
      </p:sp>
      <p:sp>
        <p:nvSpPr>
          <p:cNvPr id="4" name="circle_112"/>
          <p:cNvSpPr/>
          <p:nvPr/>
        </p:nvSpPr>
        <p:spPr>
          <a:xfrm>
            <a:off x="731520" y="26060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label_113"/>
          <p:cNvSpPr txBox="1"/>
          <p:nvPr/>
        </p:nvSpPr>
        <p:spPr>
          <a:xfrm>
            <a:off x="73152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Selection: requirements and why a composite dataset</a:t>
            </a:r>
            <a:endParaRPr lang="en-US" sz="3200" dirty="0"/>
          </a:p>
        </p:txBody>
      </p:sp>
      <p:sp>
        <p:nvSpPr>
          <p:cNvPr id="4" name="circle_114"/>
          <p:cNvSpPr/>
          <p:nvPr/>
        </p:nvSpPr>
        <p:spPr>
          <a:xfrm>
            <a:off x="548640" y="132588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label_115"/>
          <p:cNvSpPr txBox="1"/>
          <p:nvPr/>
        </p:nvSpPr>
        <p:spPr>
          <a:xfrm>
            <a:off x="548640" y="1325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R1</a:t>
            </a:r>
            <a:endParaRPr lang="en-US" sz="1400" dirty="0"/>
          </a:p>
        </p:txBody>
      </p:sp>
      <p:sp>
        <p:nvSpPr>
          <p:cNvPr id="6" name="text_116"/>
          <p:cNvSpPr txBox="1"/>
          <p:nvPr/>
        </p:nvSpPr>
        <p:spPr>
          <a:xfrm>
            <a:off x="1371600" y="1307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Explicit hard negatives</a:t>
            </a:r>
            <a:endParaRPr lang="en-US" sz="1700" dirty="0"/>
          </a:p>
        </p:txBody>
      </p:sp>
      <p:sp>
        <p:nvSpPr>
          <p:cNvPr id="7" name="text_117"/>
          <p:cNvSpPr txBox="1"/>
          <p:nvPr/>
        </p:nvSpPr>
        <p:spPr>
          <a:xfrm>
            <a:off x="1371600" y="1655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dedicated look-alike class, not unstructured background</a:t>
            </a:r>
            <a:endParaRPr lang="en-US" sz="1400" dirty="0"/>
          </a:p>
        </p:txBody>
      </p:sp>
      <p:sp>
        <p:nvSpPr>
          <p:cNvPr id="8" name="circle_118"/>
          <p:cNvSpPr/>
          <p:nvPr/>
        </p:nvSpPr>
        <p:spPr>
          <a:xfrm>
            <a:off x="548640" y="2221992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irclelabel_119"/>
          <p:cNvSpPr txBox="1"/>
          <p:nvPr/>
        </p:nvSpPr>
        <p:spPr>
          <a:xfrm>
            <a:off x="548640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R2</a:t>
            </a:r>
            <a:endParaRPr lang="en-US" sz="1400" dirty="0"/>
          </a:p>
        </p:txBody>
      </p:sp>
      <p:sp>
        <p:nvSpPr>
          <p:cNvPr id="10" name="text_120"/>
          <p:cNvSpPr txBox="1"/>
          <p:nvPr/>
        </p:nvSpPr>
        <p:spPr>
          <a:xfrm>
            <a:off x="1371600" y="2203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Natural snake imagery</a:t>
            </a:r>
            <a:endParaRPr lang="en-US" sz="1700" dirty="0"/>
          </a:p>
        </p:txBody>
      </p:sp>
      <p:sp>
        <p:nvSpPr>
          <p:cNvPr id="11" name="text_121"/>
          <p:cNvSpPr txBox="1"/>
          <p:nvPr/>
        </p:nvSpPr>
        <p:spPr>
          <a:xfrm>
            <a:off x="1371600" y="2551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Many species, postures, backgrounds, night shots</a:t>
            </a:r>
            <a:endParaRPr lang="en-US" sz="1400" dirty="0"/>
          </a:p>
        </p:txBody>
      </p:sp>
      <p:sp>
        <p:nvSpPr>
          <p:cNvPr id="12" name="circle_122"/>
          <p:cNvSpPr/>
          <p:nvPr/>
        </p:nvSpPr>
        <p:spPr>
          <a:xfrm>
            <a:off x="548640" y="3118104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irclelabel_123"/>
          <p:cNvSpPr txBox="1"/>
          <p:nvPr/>
        </p:nvSpPr>
        <p:spPr>
          <a:xfrm>
            <a:off x="548640" y="31181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R3</a:t>
            </a:r>
            <a:endParaRPr lang="en-US" sz="1400" dirty="0"/>
          </a:p>
        </p:txBody>
      </p:sp>
      <p:sp>
        <p:nvSpPr>
          <p:cNvPr id="14" name="text_124"/>
          <p:cNvSpPr txBox="1"/>
          <p:nvPr/>
        </p:nvSpPr>
        <p:spPr>
          <a:xfrm>
            <a:off x="1371600" y="30998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Localisation labels</a:t>
            </a:r>
            <a:endParaRPr lang="en-US" sz="1700" dirty="0"/>
          </a:p>
        </p:txBody>
      </p:sp>
      <p:sp>
        <p:nvSpPr>
          <p:cNvPr id="15" name="text_125"/>
          <p:cNvSpPr txBox="1"/>
          <p:nvPr/>
        </p:nvSpPr>
        <p:spPr>
          <a:xfrm>
            <a:off x="1371600" y="3447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Boxes for detection; polygons for precise XAI checks</a:t>
            </a:r>
            <a:endParaRPr lang="en-US" sz="1400" dirty="0"/>
          </a:p>
        </p:txBody>
      </p:sp>
      <p:sp>
        <p:nvSpPr>
          <p:cNvPr id="16" name="circle_126"/>
          <p:cNvSpPr/>
          <p:nvPr/>
        </p:nvSpPr>
        <p:spPr>
          <a:xfrm>
            <a:off x="548640" y="4014216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irclelabel_127"/>
          <p:cNvSpPr txBox="1"/>
          <p:nvPr/>
        </p:nvSpPr>
        <p:spPr>
          <a:xfrm>
            <a:off x="548640" y="40142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R4</a:t>
            </a:r>
            <a:endParaRPr lang="en-US" sz="1400" dirty="0"/>
          </a:p>
        </p:txBody>
      </p:sp>
      <p:sp>
        <p:nvSpPr>
          <p:cNvPr id="18" name="text_128"/>
          <p:cNvSpPr txBox="1"/>
          <p:nvPr/>
        </p:nvSpPr>
        <p:spPr>
          <a:xfrm>
            <a:off x="1371600" y="3995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Scale</a:t>
            </a:r>
            <a:endParaRPr lang="en-US" sz="1700" dirty="0"/>
          </a:p>
        </p:txBody>
      </p:sp>
      <p:sp>
        <p:nvSpPr>
          <p:cNvPr id="19" name="text_129"/>
          <p:cNvSpPr txBox="1"/>
          <p:nvPr/>
        </p:nvSpPr>
        <p:spPr>
          <a:xfrm>
            <a:off x="137160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Tens of thousands of images with held-out splits</a:t>
            </a:r>
            <a:endParaRPr lang="en-US" sz="1400" dirty="0"/>
          </a:p>
        </p:txBody>
      </p:sp>
      <p:sp>
        <p:nvSpPr>
          <p:cNvPr id="20" name="circle_130"/>
          <p:cNvSpPr/>
          <p:nvPr/>
        </p:nvSpPr>
        <p:spPr>
          <a:xfrm>
            <a:off x="548640" y="4910328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irclelabel_131"/>
          <p:cNvSpPr txBox="1"/>
          <p:nvPr/>
        </p:nvSpPr>
        <p:spPr>
          <a:xfrm>
            <a:off x="548640" y="49103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R5</a:t>
            </a:r>
            <a:endParaRPr lang="en-US" sz="1400" dirty="0"/>
          </a:p>
        </p:txBody>
      </p:sp>
      <p:sp>
        <p:nvSpPr>
          <p:cNvPr id="22" name="text_132"/>
          <p:cNvSpPr txBox="1"/>
          <p:nvPr/>
        </p:nvSpPr>
        <p:spPr>
          <a:xfrm>
            <a:off x="137160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Open licences</a:t>
            </a:r>
            <a:endParaRPr lang="en-US" sz="1700" dirty="0"/>
          </a:p>
        </p:txBody>
      </p:sp>
      <p:sp>
        <p:nvSpPr>
          <p:cNvPr id="23" name="text_133"/>
          <p:cNvSpPr txBox="1"/>
          <p:nvPr/>
        </p:nvSpPr>
        <p:spPr>
          <a:xfrm>
            <a:off x="1371600" y="5239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Public sources, mostly CC BY 4.0</a:t>
            </a:r>
            <a:endParaRPr lang="en-US" sz="1400" dirty="0"/>
          </a:p>
        </p:txBody>
      </p:sp>
      <p:sp>
        <p:nvSpPr>
          <p:cNvPr id="24" name="card_134"/>
          <p:cNvSpPr/>
          <p:nvPr/>
        </p:nvSpPr>
        <p:spPr>
          <a:xfrm>
            <a:off x="6355080" y="1325880"/>
            <a:ext cx="5285232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_135"/>
          <p:cNvSpPr txBox="1"/>
          <p:nvPr/>
        </p:nvSpPr>
        <p:spPr>
          <a:xfrm>
            <a:off x="662940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Decision: build a composite dataset</a:t>
            </a:r>
            <a:endParaRPr lang="en-US" sz="1900" dirty="0"/>
          </a:p>
        </p:txBody>
      </p:sp>
      <p:sp>
        <p:nvSpPr>
          <p:cNvPr id="26" name="bullets_136"/>
          <p:cNvSpPr txBox="1"/>
          <p:nvPr/>
        </p:nvSpPr>
        <p:spPr>
          <a:xfrm>
            <a:off x="6629400" y="20574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Public snake datasets are almost all positive-only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one prior system with negatives (ropes, sticks, leaves) did not release its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So: merge public Roboflow Universe and Kaggle sources: snake sets for class 0, one source per look-alike category for class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Relabel into two classes, split into train / validation / test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Look-alikes become a first-class part of training, not an afterthought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Classes and composition</a:t>
            </a:r>
            <a:endParaRPr lang="en-US" sz="3200" dirty="0"/>
          </a:p>
        </p:txBody>
      </p:sp>
      <p:graphicFrame>
        <p:nvGraphicFramePr>
          <p:cNvPr id="4" name="composition_chart"/>
          <p:cNvGraphicFramePr/>
          <p:nvPr/>
        </p:nvGraphicFramePr>
        <p:xfrm>
          <a:off x="548640" y="1280160"/>
          <a:ext cx="65836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_137"/>
          <p:cNvSpPr/>
          <p:nvPr/>
        </p:nvSpPr>
        <p:spPr>
          <a:xfrm>
            <a:off x="7406640" y="1325880"/>
            <a:ext cx="42336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_138"/>
          <p:cNvSpPr/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irclelabel_139"/>
          <p:cNvSpPr txBox="1"/>
          <p:nvPr/>
        </p:nvSpPr>
        <p:spPr>
          <a:xfrm>
            <a:off x="7589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</a:t>
            </a:r>
            <a:endParaRPr lang="en-US" sz="1800" dirty="0"/>
          </a:p>
        </p:txBody>
      </p:sp>
      <p:sp>
        <p:nvSpPr>
          <p:cNvPr id="8" name="text_140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snake</a:t>
            </a:r>
            <a:endParaRPr lang="en-US" sz="1900" dirty="0"/>
          </a:p>
        </p:txBody>
      </p:sp>
      <p:sp>
        <p:nvSpPr>
          <p:cNvPr id="9" name="text_141"/>
          <p:cNvSpPr txBox="1"/>
          <p:nvPr/>
        </p:nvSpPr>
        <p:spPr>
          <a:xfrm>
            <a:off x="758952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Any real snake: any species, posture, partly hidden, any light</a:t>
            </a:r>
            <a:endParaRPr lang="en-US" sz="1400" dirty="0"/>
          </a:p>
        </p:txBody>
      </p:sp>
      <p:sp>
        <p:nvSpPr>
          <p:cNvPr id="10" name="card_142"/>
          <p:cNvSpPr/>
          <p:nvPr/>
        </p:nvSpPr>
        <p:spPr>
          <a:xfrm>
            <a:off x="7406640" y="3657600"/>
            <a:ext cx="423367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ircle_143"/>
          <p:cNvSpPr/>
          <p:nvPr/>
        </p:nvSpPr>
        <p:spPr>
          <a:xfrm>
            <a:off x="7589520" y="3840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irclelabel_144"/>
          <p:cNvSpPr txBox="1"/>
          <p:nvPr/>
        </p:nvSpPr>
        <p:spPr>
          <a:xfrm>
            <a:off x="7589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_145"/>
          <p:cNvSpPr txBox="1"/>
          <p:nvPr/>
        </p:nvSpPr>
        <p:spPr>
          <a:xfrm>
            <a:off x="832104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snake_like_object</a:t>
            </a:r>
            <a:endParaRPr lang="en-US" sz="1900" dirty="0"/>
          </a:p>
        </p:txBody>
      </p:sp>
      <p:sp>
        <p:nvSpPr>
          <p:cNvPr id="14" name="text_146"/>
          <p:cNvSpPr txBox="1"/>
          <p:nvPr/>
        </p:nvSpPr>
        <p:spPr>
          <a:xfrm>
            <a:off x="7589520" y="4526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Elongated, thin, curved or coiled non-snakes: belts, ropes and nooses, roots, hoses, pipes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classes look like</a:t>
            </a:r>
            <a:endParaRPr lang="en-US" sz="3200" dirty="0"/>
          </a:p>
        </p:txBody>
      </p:sp>
      <p:pic>
        <p:nvPicPr>
          <p:cNvPr id="4" name="img_147" descr="sheet_lookal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94960" cy="4046220"/>
          </a:xfrm>
          <a:prstGeom prst="rect">
            <a:avLst/>
          </a:prstGeom>
        </p:spPr>
      </p:pic>
      <p:pic>
        <p:nvPicPr>
          <p:cNvPr id="5" name="img_148" descr="sheet_sn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280160"/>
            <a:ext cx="5394960" cy="4046220"/>
          </a:xfrm>
          <a:prstGeom prst="rect">
            <a:avLst/>
          </a:prstGeom>
        </p:spPr>
      </p:pic>
      <p:sp>
        <p:nvSpPr>
          <p:cNvPr id="6" name="text_149"/>
          <p:cNvSpPr txBox="1"/>
          <p:nvPr/>
        </p:nvSpPr>
        <p:spPr>
          <a:xfrm>
            <a:off x="548640" y="5440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Look-alike class (48 samples)</a:t>
            </a:r>
            <a:endParaRPr lang="en-US" sz="1300" dirty="0"/>
          </a:p>
        </p:txBody>
      </p:sp>
      <p:sp>
        <p:nvSpPr>
          <p:cNvPr id="7" name="text_150"/>
          <p:cNvSpPr txBox="1"/>
          <p:nvPr/>
        </p:nvSpPr>
        <p:spPr>
          <a:xfrm>
            <a:off x="6245352" y="5440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Snake class (48 samples)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Splits and annotation format</a:t>
            </a:r>
            <a:endParaRPr lang="en-US" sz="3200" dirty="0"/>
          </a:p>
        </p:txBody>
      </p:sp>
      <p:graphicFrame>
        <p:nvGraphicFramePr>
          <p:cNvPr id="4" name="split_chart"/>
          <p:cNvGraphicFramePr/>
          <p:nvPr/>
        </p:nvGraphicFramePr>
        <p:xfrm>
          <a:off x="548640" y="128016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spli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71600"/>
          <a:ext cx="5285232" cy="153619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Images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Box / polygon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Background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Train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20,294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16,630 / 4,850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1,813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2,172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2,057 / 451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841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707 / 242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ard_151"/>
          <p:cNvSpPr/>
          <p:nvPr/>
        </p:nvSpPr>
        <p:spPr>
          <a:xfrm>
            <a:off x="6355080" y="3246120"/>
            <a:ext cx="528523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_152"/>
          <p:cNvSpPr txBox="1"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YOLO label lines</a:t>
            </a:r>
            <a:endParaRPr lang="en-US" sz="1700" dirty="0"/>
          </a:p>
        </p:txBody>
      </p:sp>
      <p:sp>
        <p:nvSpPr>
          <p:cNvPr id="8" name="bullets_153"/>
          <p:cNvSpPr txBox="1"/>
          <p:nvPr/>
        </p:nvSpPr>
        <p:spPr>
          <a:xfrm>
            <a:off x="6583680" y="38404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Box: class, x-centre, y-centre, width, height (≈ 77 %)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Polygon: class, x1 y1 x2 y2 … (≈ 23 %): the exact outline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Empty file = background image (no object)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coordinates normalised to [0, 1]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Understanding the data</a:t>
            </a:r>
            <a:endParaRPr lang="en-US" sz="3200" dirty="0"/>
          </a:p>
        </p:txBody>
      </p:sp>
      <p:sp>
        <p:nvSpPr>
          <p:cNvPr id="4" name="text_154"/>
          <p:cNvSpPr txBox="1"/>
          <p:nvPr/>
        </p:nvSpPr>
        <p:spPr>
          <a:xfrm>
            <a:off x="54864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33 %</a:t>
            </a:r>
            <a:endParaRPr lang="en-US" sz="3800" dirty="0"/>
          </a:p>
        </p:txBody>
      </p:sp>
      <p:sp>
        <p:nvSpPr>
          <p:cNvPr id="5" name="text_155"/>
          <p:cNvSpPr txBox="1"/>
          <p:nvPr/>
        </p:nvSpPr>
        <p:spPr>
          <a:xfrm>
            <a:off x="54864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median snake size (share of image)</a:t>
            </a:r>
            <a:endParaRPr lang="en-US" sz="1300" dirty="0"/>
          </a:p>
        </p:txBody>
      </p:sp>
      <p:sp>
        <p:nvSpPr>
          <p:cNvPr id="6" name="text_156"/>
          <p:cNvSpPr txBox="1"/>
          <p:nvPr/>
        </p:nvSpPr>
        <p:spPr>
          <a:xfrm>
            <a:off x="548640" y="24414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18 %</a:t>
            </a:r>
            <a:endParaRPr lang="en-US" sz="3800" dirty="0"/>
          </a:p>
        </p:txBody>
      </p:sp>
      <p:sp>
        <p:nvSpPr>
          <p:cNvPr id="7" name="text_157"/>
          <p:cNvSpPr txBox="1"/>
          <p:nvPr/>
        </p:nvSpPr>
        <p:spPr>
          <a:xfrm>
            <a:off x="54864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median look-alike size</a:t>
            </a:r>
            <a:endParaRPr lang="en-US" sz="1300" dirty="0"/>
          </a:p>
        </p:txBody>
      </p:sp>
      <p:sp>
        <p:nvSpPr>
          <p:cNvPr id="8" name="text_158"/>
          <p:cNvSpPr txBox="1"/>
          <p:nvPr/>
        </p:nvSpPr>
        <p:spPr>
          <a:xfrm>
            <a:off x="548640" y="35570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83 %</a:t>
            </a:r>
            <a:endParaRPr lang="en-US" sz="3800" dirty="0"/>
          </a:p>
        </p:txBody>
      </p:sp>
      <p:sp>
        <p:nvSpPr>
          <p:cNvPr id="9" name="text_159"/>
          <p:cNvSpPr txBox="1"/>
          <p:nvPr/>
        </p:nvSpPr>
        <p:spPr>
          <a:xfrm>
            <a:off x="548640" y="42153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of training images hold exactly one object</a:t>
            </a:r>
            <a:endParaRPr lang="en-US" sz="1300" dirty="0"/>
          </a:p>
        </p:txBody>
      </p:sp>
      <p:sp>
        <p:nvSpPr>
          <p:cNvPr id="10" name="text_160"/>
          <p:cNvSpPr txBox="1"/>
          <p:nvPr/>
        </p:nvSpPr>
        <p:spPr>
          <a:xfrm>
            <a:off x="548640" y="46725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994</a:t>
            </a:r>
            <a:endParaRPr lang="en-US" sz="3800" dirty="0"/>
          </a:p>
        </p:txBody>
      </p:sp>
      <p:sp>
        <p:nvSpPr>
          <p:cNvPr id="11" name="text_161"/>
          <p:cNvSpPr txBox="1"/>
          <p:nvPr/>
        </p:nvSpPr>
        <p:spPr>
          <a:xfrm>
            <a:off x="548640" y="5330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distinct image resolutions</a:t>
            </a:r>
            <a:endParaRPr lang="en-US" sz="1300" dirty="0"/>
          </a:p>
        </p:txBody>
      </p:sp>
      <p:pic>
        <p:nvPicPr>
          <p:cNvPr id="12" name="img_162" descr="object_siz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136" y="1325880"/>
            <a:ext cx="5867400" cy="3017520"/>
          </a:xfrm>
          <a:prstGeom prst="rect">
            <a:avLst/>
          </a:prstGeom>
        </p:spPr>
      </p:pic>
      <p:sp>
        <p:nvSpPr>
          <p:cNvPr id="13" name="text_163"/>
          <p:cNvSpPr txBox="1"/>
          <p:nvPr/>
        </p:nvSpPr>
        <p:spPr>
          <a:xfrm>
            <a:off x="4023360" y="534924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Object area as a share of image area (log scale). 6.3 % of look-alikes but only 0.5 % of snakes are smaller than 1 % of the image.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quality audit</a:t>
            </a:r>
            <a:endParaRPr lang="en-US" sz="3200" dirty="0"/>
          </a:p>
        </p:txBody>
      </p:sp>
      <p:sp>
        <p:nvSpPr>
          <p:cNvPr id="4" name="card_164"/>
          <p:cNvSpPr/>
          <p:nvPr/>
        </p:nvSpPr>
        <p:spPr>
          <a:xfrm>
            <a:off x="548640" y="1325880"/>
            <a:ext cx="5349240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_165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label_166"/>
          <p:cNvSpPr txBox="1"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_167"/>
          <p:cNvSpPr txBox="1"/>
          <p:nvPr/>
        </p:nvSpPr>
        <p:spPr>
          <a:xfrm>
            <a:off x="164592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Source shortcut risk</a:t>
            </a:r>
            <a:endParaRPr lang="en-US" sz="1900" dirty="0"/>
          </a:p>
        </p:txBody>
      </p:sp>
      <p:sp>
        <p:nvSpPr>
          <p:cNvPr id="8" name="text_168"/>
          <p:cNvSpPr txBox="1"/>
          <p:nvPr/>
        </p:nvSpPr>
        <p:spPr>
          <a:xfrm>
            <a:off x="822960" y="2377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99.4 %</a:t>
            </a:r>
            <a:endParaRPr lang="en-US" sz="4000" dirty="0"/>
          </a:p>
        </p:txBody>
      </p:sp>
      <p:sp>
        <p:nvSpPr>
          <p:cNvPr id="9" name="text_169"/>
          <p:cNvSpPr txBox="1"/>
          <p:nvPr/>
        </p:nvSpPr>
        <p:spPr>
          <a:xfrm>
            <a:off x="82296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images: the class is predictable from resolution alone, because each class came from different sources.</a:t>
            </a:r>
            <a:endParaRPr lang="en-US" sz="1400" dirty="0"/>
          </a:p>
        </p:txBody>
      </p:sp>
      <p:sp>
        <p:nvSpPr>
          <p:cNvPr id="10" name="text_170"/>
          <p:cNvSpPr txBox="1"/>
          <p:nvPr/>
        </p:nvSpPr>
        <p:spPr>
          <a:xfrm>
            <a:off x="822960" y="3977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Mitigation: all inputs are resized, and the localisation metrics check that explanations point at the object, not at source style.</a:t>
            </a:r>
            <a:endParaRPr lang="en-US" sz="1400" dirty="0"/>
          </a:p>
        </p:txBody>
      </p:sp>
      <p:sp>
        <p:nvSpPr>
          <p:cNvPr id="11" name="card_171"/>
          <p:cNvSpPr/>
          <p:nvPr/>
        </p:nvSpPr>
        <p:spPr>
          <a:xfrm>
            <a:off x="6263640" y="1325880"/>
            <a:ext cx="5376672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ircle_172"/>
          <p:cNvSpPr/>
          <p:nvPr/>
        </p:nvSpPr>
        <p:spPr>
          <a:xfrm>
            <a:off x="653796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irclelabel_173"/>
          <p:cNvSpPr txBox="1"/>
          <p:nvPr/>
        </p:nvSpPr>
        <p:spPr>
          <a:xfrm>
            <a:off x="6537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≈</a:t>
            </a:r>
            <a:endParaRPr lang="en-US" sz="2200" dirty="0"/>
          </a:p>
        </p:txBody>
      </p:sp>
      <p:sp>
        <p:nvSpPr>
          <p:cNvPr id="14" name="text_174"/>
          <p:cNvSpPr txBox="1"/>
          <p:nvPr/>
        </p:nvSpPr>
        <p:spPr>
          <a:xfrm>
            <a:off x="736092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Near-duplicates across splits</a:t>
            </a:r>
            <a:endParaRPr lang="en-US" sz="1900" dirty="0"/>
          </a:p>
        </p:txBody>
      </p:sp>
      <p:pic>
        <p:nvPicPr>
          <p:cNvPr id="15" name="img_175" descr="dup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31720"/>
            <a:ext cx="4937760" cy="790528"/>
          </a:xfrm>
          <a:prstGeom prst="rect">
            <a:avLst/>
          </a:prstGeom>
        </p:spPr>
      </p:pic>
      <p:sp>
        <p:nvSpPr>
          <p:cNvPr id="16" name="bullets_176"/>
          <p:cNvSpPr txBox="1"/>
          <p:nvPr/>
        </p:nvSpPr>
        <p:spPr>
          <a:xfrm>
            <a:off x="6537960" y="33375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 + pixel check: 646 verified pairs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20 test images (2.4 %) have a near-twin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Validation used only for tuning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reported with and without them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92024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Complete Methodology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92024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Detector · target score · XAI methods · evaluation · runtime pipeline</a:t>
            </a:r>
            <a:endParaRPr lang="en-US" sz="1800" dirty="0"/>
          </a:p>
        </p:txBody>
      </p:sp>
      <p:sp>
        <p:nvSpPr>
          <p:cNvPr id="4" name="circle_177"/>
          <p:cNvSpPr/>
          <p:nvPr/>
        </p:nvSpPr>
        <p:spPr>
          <a:xfrm>
            <a:off x="731520" y="26060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label_178"/>
          <p:cNvSpPr txBox="1"/>
          <p:nvPr/>
        </p:nvSpPr>
        <p:spPr>
          <a:xfrm>
            <a:off x="73152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pipeline</a:t>
            </a:r>
            <a:endParaRPr lang="en-US" sz="3200" dirty="0"/>
          </a:p>
        </p:txBody>
      </p:sp>
      <p:pic>
        <p:nvPicPr>
          <p:cNvPr id="4" name="img_179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34440"/>
            <a:ext cx="9966960" cy="44064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Detection model: YOLO11n</a:t>
            </a:r>
            <a:endParaRPr lang="en-US" sz="3200" dirty="0"/>
          </a:p>
        </p:txBody>
      </p:sp>
      <p:sp>
        <p:nvSpPr>
          <p:cNvPr id="4" name="card_180"/>
          <p:cNvSpPr/>
          <p:nvPr/>
        </p:nvSpPr>
        <p:spPr>
          <a:xfrm>
            <a:off x="548640" y="1325880"/>
            <a:ext cx="2212848" cy="246888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_181"/>
          <p:cNvSpPr txBox="1"/>
          <p:nvPr/>
        </p:nvSpPr>
        <p:spPr>
          <a:xfrm>
            <a:off x="7315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Backbone</a:t>
            </a:r>
            <a:endParaRPr lang="en-US" sz="1900" dirty="0"/>
          </a:p>
        </p:txBody>
      </p:sp>
      <p:sp>
        <p:nvSpPr>
          <p:cNvPr id="6" name="text_182"/>
          <p:cNvSpPr txBox="1"/>
          <p:nvPr/>
        </p:nvSpPr>
        <p:spPr>
          <a:xfrm>
            <a:off x="7315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Layers 0–10</a:t>
            </a:r>
            <a:endParaRPr lang="en-US" sz="1300" dirty="0"/>
          </a:p>
        </p:txBody>
      </p:sp>
      <p:sp>
        <p:nvSpPr>
          <p:cNvPr id="7" name="text_183"/>
          <p:cNvSpPr txBox="1"/>
          <p:nvPr/>
        </p:nvSpPr>
        <p:spPr>
          <a:xfrm>
            <a:off x="73152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C3k2 blocks, SPPF, C2PSA attention</a:t>
            </a:r>
            <a:endParaRPr lang="en-US" sz="1400" dirty="0"/>
          </a:p>
        </p:txBody>
      </p:sp>
      <p:sp>
        <p:nvSpPr>
          <p:cNvPr id="8" name="arrow_184"/>
          <p:cNvSpPr/>
          <p:nvPr/>
        </p:nvSpPr>
        <p:spPr>
          <a:xfrm>
            <a:off x="2779776" y="2377440"/>
            <a:ext cx="155448" cy="32004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_185"/>
          <p:cNvSpPr/>
          <p:nvPr/>
        </p:nvSpPr>
        <p:spPr>
          <a:xfrm>
            <a:off x="2944368" y="1325880"/>
            <a:ext cx="2212848" cy="246888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_186"/>
          <p:cNvSpPr txBox="1"/>
          <p:nvPr/>
        </p:nvSpPr>
        <p:spPr>
          <a:xfrm>
            <a:off x="3127248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Neck</a:t>
            </a:r>
            <a:endParaRPr lang="en-US" sz="1900" dirty="0"/>
          </a:p>
        </p:txBody>
      </p:sp>
      <p:sp>
        <p:nvSpPr>
          <p:cNvPr id="11" name="text_187"/>
          <p:cNvSpPr txBox="1"/>
          <p:nvPr/>
        </p:nvSpPr>
        <p:spPr>
          <a:xfrm>
            <a:off x="3127248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Layers 11–22</a:t>
            </a:r>
            <a:endParaRPr lang="en-US" sz="1300" dirty="0"/>
          </a:p>
        </p:txBody>
      </p:sp>
      <p:sp>
        <p:nvSpPr>
          <p:cNvPr id="12" name="text_188"/>
          <p:cNvSpPr txBox="1"/>
          <p:nvPr/>
        </p:nvSpPr>
        <p:spPr>
          <a:xfrm>
            <a:off x="3127248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Feature pyramid → P3 (stride 8), P4 (16), P5 (32)</a:t>
            </a:r>
            <a:endParaRPr lang="en-US" sz="1400" dirty="0"/>
          </a:p>
        </p:txBody>
      </p:sp>
      <p:sp>
        <p:nvSpPr>
          <p:cNvPr id="13" name="arrow_189"/>
          <p:cNvSpPr/>
          <p:nvPr/>
        </p:nvSpPr>
        <p:spPr>
          <a:xfrm>
            <a:off x="5175504" y="2377440"/>
            <a:ext cx="155448" cy="32004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card_190"/>
          <p:cNvSpPr/>
          <p:nvPr/>
        </p:nvSpPr>
        <p:spPr>
          <a:xfrm>
            <a:off x="5340096" y="1325880"/>
            <a:ext cx="2212848" cy="246888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_191"/>
          <p:cNvSpPr txBox="1"/>
          <p:nvPr/>
        </p:nvSpPr>
        <p:spPr>
          <a:xfrm>
            <a:off x="5522976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Head</a:t>
            </a:r>
            <a:endParaRPr lang="en-US" sz="1900" dirty="0"/>
          </a:p>
        </p:txBody>
      </p:sp>
      <p:sp>
        <p:nvSpPr>
          <p:cNvPr id="16" name="text_192"/>
          <p:cNvSpPr txBox="1"/>
          <p:nvPr/>
        </p:nvSpPr>
        <p:spPr>
          <a:xfrm>
            <a:off x="5522976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Layer 23</a:t>
            </a:r>
            <a:endParaRPr lang="en-US" sz="1300" dirty="0"/>
          </a:p>
        </p:txBody>
      </p:sp>
      <p:sp>
        <p:nvSpPr>
          <p:cNvPr id="17" name="text_193"/>
          <p:cNvSpPr txBox="1"/>
          <p:nvPr/>
        </p:nvSpPr>
        <p:spPr>
          <a:xfrm>
            <a:off x="5522976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Box + 2 class scores at every P3/P4/P5 location</a:t>
            </a:r>
            <a:endParaRPr lang="en-US" sz="1400" dirty="0"/>
          </a:p>
        </p:txBody>
      </p:sp>
      <p:sp>
        <p:nvSpPr>
          <p:cNvPr id="18" name="text_194"/>
          <p:cNvSpPr txBox="1"/>
          <p:nvPr/>
        </p:nvSpPr>
        <p:spPr>
          <a:xfrm>
            <a:off x="5486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2.58 M</a:t>
            </a:r>
            <a:endParaRPr lang="en-US" sz="3200" dirty="0"/>
          </a:p>
        </p:txBody>
      </p:sp>
      <p:sp>
        <p:nvSpPr>
          <p:cNvPr id="19" name="text_195"/>
          <p:cNvSpPr txBox="1"/>
          <p:nvPr/>
        </p:nvSpPr>
        <p:spPr>
          <a:xfrm>
            <a:off x="54864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parameters</a:t>
            </a:r>
            <a:endParaRPr lang="en-US" sz="1300" dirty="0"/>
          </a:p>
        </p:txBody>
      </p:sp>
      <p:sp>
        <p:nvSpPr>
          <p:cNvPr id="20" name="text_196"/>
          <p:cNvSpPr txBox="1"/>
          <p:nvPr/>
        </p:nvSpPr>
        <p:spPr>
          <a:xfrm>
            <a:off x="2944368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</a:t>
            </a:r>
            <a:endParaRPr lang="en-US" sz="3200" dirty="0"/>
          </a:p>
        </p:txBody>
      </p:sp>
      <p:sp>
        <p:nvSpPr>
          <p:cNvPr id="21" name="text_197"/>
          <p:cNvSpPr txBox="1"/>
          <p:nvPr/>
        </p:nvSpPr>
        <p:spPr>
          <a:xfrm>
            <a:off x="2944368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GFLOPs</a:t>
            </a:r>
            <a:endParaRPr lang="en-US" sz="1300" dirty="0"/>
          </a:p>
        </p:txBody>
      </p:sp>
      <p:sp>
        <p:nvSpPr>
          <p:cNvPr id="22" name="text_198"/>
          <p:cNvSpPr txBox="1"/>
          <p:nvPr/>
        </p:nvSpPr>
        <p:spPr>
          <a:xfrm>
            <a:off x="5340096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 px</a:t>
            </a:r>
            <a:endParaRPr lang="en-US" sz="3200" dirty="0"/>
          </a:p>
        </p:txBody>
      </p:sp>
      <p:sp>
        <p:nvSpPr>
          <p:cNvPr id="23" name="text_199"/>
          <p:cNvSpPr txBox="1"/>
          <p:nvPr/>
        </p:nvSpPr>
        <p:spPr>
          <a:xfrm>
            <a:off x="5340096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input, rect letterbox</a:t>
            </a:r>
            <a:endParaRPr lang="en-US" sz="1300" dirty="0"/>
          </a:p>
        </p:txBody>
      </p:sp>
      <p:sp>
        <p:nvSpPr>
          <p:cNvPr id="24" name="card_200"/>
          <p:cNvSpPr/>
          <p:nvPr/>
        </p:nvSpPr>
        <p:spPr>
          <a:xfrm>
            <a:off x="7863840" y="1325880"/>
            <a:ext cx="3776472" cy="443484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_201"/>
          <p:cNvSpPr txBox="1"/>
          <p:nvPr/>
        </p:nvSpPr>
        <p:spPr>
          <a:xfrm>
            <a:off x="80924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Training and evaluation</a:t>
            </a:r>
            <a:endParaRPr lang="en-US" sz="1800" dirty="0"/>
          </a:p>
        </p:txBody>
      </p:sp>
      <p:sp>
        <p:nvSpPr>
          <p:cNvPr id="26" name="bullets_202"/>
          <p:cNvSpPr txBox="1"/>
          <p:nvPr/>
        </p:nvSpPr>
        <p:spPr>
          <a:xfrm>
            <a:off x="8092440" y="19659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Ultralytics pipeline, 30 epochs, batch 16, Colab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Per-class NMS (IoU 0.7), conf ≥ 0.25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mAP@0.5, mAP@0.5:0.95, per-class P / 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 taxonomy: TP, class confusion, background FP, missed object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Failure gallery of the most confident mistakes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being explained: the target score</a:t>
            </a:r>
            <a:endParaRPr lang="en-US" sz="3200" dirty="0"/>
          </a:p>
        </p:txBody>
      </p:sp>
      <p:sp>
        <p:nvSpPr>
          <p:cNvPr id="4" name="card_203"/>
          <p:cNvSpPr/>
          <p:nvPr/>
        </p:nvSpPr>
        <p:spPr>
          <a:xfrm>
            <a:off x="548640" y="1371600"/>
            <a:ext cx="1109441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_204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i="1" dirty="0">
                <a:solidFill>
                  <a:schemeClr val="tx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s(x) = maxᵢ  IoU( bᵢ(x), b ) · pᵢ( c | x )</a:t>
            </a:r>
            <a:endParaRPr lang="en-US" sz="3400" dirty="0"/>
          </a:p>
        </p:txBody>
      </p:sp>
      <p:sp>
        <p:nvSpPr>
          <p:cNvPr id="6" name="circle_205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irclelabel_206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_207"/>
          <p:cNvSpPr txBox="1"/>
          <p:nvPr/>
        </p:nvSpPr>
        <p:spPr>
          <a:xfrm>
            <a:off x="123444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b, c</a:t>
            </a:r>
            <a:endParaRPr lang="en-US" sz="1700" dirty="0"/>
          </a:p>
        </p:txBody>
      </p:sp>
      <p:sp>
        <p:nvSpPr>
          <p:cNvPr id="9" name="text_208"/>
          <p:cNvSpPr txBox="1"/>
          <p:nvPr/>
        </p:nvSpPr>
        <p:spPr>
          <a:xfrm>
            <a:off x="1234440" y="3429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box and class of the detection we explain</a:t>
            </a:r>
            <a:endParaRPr lang="en-US" sz="1400" dirty="0"/>
          </a:p>
        </p:txBody>
      </p:sp>
      <p:sp>
        <p:nvSpPr>
          <p:cNvPr id="10" name="circle_209"/>
          <p:cNvSpPr/>
          <p:nvPr/>
        </p:nvSpPr>
        <p:spPr>
          <a:xfrm>
            <a:off x="6126480" y="3063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irclelabel_210"/>
          <p:cNvSpPr txBox="1"/>
          <p:nvPr/>
        </p:nvSpPr>
        <p:spPr>
          <a:xfrm>
            <a:off x="61264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_211"/>
          <p:cNvSpPr txBox="1"/>
          <p:nvPr/>
        </p:nvSpPr>
        <p:spPr>
          <a:xfrm>
            <a:off x="681228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</a:t>
            </a:r>
            <a:endParaRPr lang="en-US" sz="1700" dirty="0"/>
          </a:p>
        </p:txBody>
      </p:sp>
      <p:sp>
        <p:nvSpPr>
          <p:cNvPr id="13" name="text_212"/>
          <p:cNvSpPr txBox="1"/>
          <p:nvPr/>
        </p:nvSpPr>
        <p:spPr>
          <a:xfrm>
            <a:off x="6812280" y="3429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raw (pre-NMS) prediction of the image x</a:t>
            </a:r>
            <a:endParaRPr lang="en-US" sz="1400" dirty="0"/>
          </a:p>
        </p:txBody>
      </p:sp>
      <p:sp>
        <p:nvSpPr>
          <p:cNvPr id="14" name="circle_213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circlelabel_214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_215"/>
          <p:cNvSpPr txBox="1"/>
          <p:nvPr/>
        </p:nvSpPr>
        <p:spPr>
          <a:xfrm>
            <a:off x="1234440" y="4343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Same score everywhere</a:t>
            </a:r>
            <a:endParaRPr lang="en-US" sz="1700" dirty="0"/>
          </a:p>
        </p:txBody>
      </p:sp>
      <p:sp>
        <p:nvSpPr>
          <p:cNvPr id="17" name="text_216"/>
          <p:cNvSpPr txBox="1"/>
          <p:nvPr/>
        </p:nvSpPr>
        <p:spPr>
          <a:xfrm>
            <a:off x="1234440" y="4754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gradients (CAMs), perturbations (Occlusion, D-RISE), deletion / insertion metric</a:t>
            </a:r>
            <a:endParaRPr lang="en-US" sz="1400" dirty="0"/>
          </a:p>
        </p:txBody>
      </p:sp>
      <p:sp>
        <p:nvSpPr>
          <p:cNvPr id="18" name="circle_217"/>
          <p:cNvSpPr/>
          <p:nvPr/>
        </p:nvSpPr>
        <p:spPr>
          <a:xfrm>
            <a:off x="6126480" y="43891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circlelabel_218"/>
          <p:cNvSpPr txBox="1"/>
          <p:nvPr/>
        </p:nvSpPr>
        <p:spPr>
          <a:xfrm>
            <a:off x="61264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_219"/>
          <p:cNvSpPr txBox="1"/>
          <p:nvPr/>
        </p:nvSpPr>
        <p:spPr>
          <a:xfrm>
            <a:off x="6812280" y="4343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Contrastive variant</a:t>
            </a:r>
            <a:endParaRPr lang="en-US" sz="1700" dirty="0"/>
          </a:p>
        </p:txBody>
      </p:sp>
      <p:sp>
        <p:nvSpPr>
          <p:cNvPr id="21" name="text_220"/>
          <p:cNvSpPr txBox="1"/>
          <p:nvPr/>
        </p:nvSpPr>
        <p:spPr>
          <a:xfrm>
            <a:off x="6812280" y="4754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IoU · (p(c) − p(other class)): why snake rather than look-alike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Explanation methods: three independent families</a:t>
            </a:r>
            <a:endParaRPr lang="en-US" sz="3200" dirty="0"/>
          </a:p>
        </p:txBody>
      </p:sp>
      <p:sp>
        <p:nvSpPr>
          <p:cNvPr id="4" name="card_221"/>
          <p:cNvSpPr/>
          <p:nvPr/>
        </p:nvSpPr>
        <p:spPr>
          <a:xfrm>
            <a:off x="548640" y="1325880"/>
            <a:ext cx="35204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_222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label_223"/>
          <p:cNvSpPr txBox="1"/>
          <p:nvPr/>
        </p:nvSpPr>
        <p:spPr>
          <a:xfrm>
            <a:off x="777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_224"/>
          <p:cNvSpPr txBox="1"/>
          <p:nvPr/>
        </p:nvSpPr>
        <p:spPr>
          <a:xfrm>
            <a:off x="1554480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Activation</a:t>
            </a:r>
            <a:endParaRPr lang="en-US" sz="2000" dirty="0"/>
          </a:p>
        </p:txBody>
      </p:sp>
      <p:sp>
        <p:nvSpPr>
          <p:cNvPr id="8" name="text_225"/>
          <p:cNvSpPr txBox="1"/>
          <p:nvPr/>
        </p:nvSpPr>
        <p:spPr>
          <a:xfrm>
            <a:off x="77724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Eigen-CAM</a:t>
            </a:r>
            <a:endParaRPr lang="en-US" sz="1500" dirty="0"/>
          </a:p>
        </p:txBody>
      </p:sp>
      <p:sp>
        <p:nvSpPr>
          <p:cNvPr id="9" name="text_226"/>
          <p:cNvSpPr txBox="1"/>
          <p:nvPr/>
        </p:nvSpPr>
        <p:spPr>
          <a:xfrm>
            <a:off x="777240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First principal component of the feature maps. Fast, no gradients, class-agnostic.</a:t>
            </a:r>
            <a:endParaRPr lang="en-US" sz="1400" dirty="0"/>
          </a:p>
        </p:txBody>
      </p:sp>
      <p:sp>
        <p:nvSpPr>
          <p:cNvPr id="10" name="text_227"/>
          <p:cNvSpPr txBox="1"/>
          <p:nvPr/>
        </p:nvSpPr>
        <p:spPr>
          <a:xfrm>
            <a:off x="77724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Proposal: first-pass check</a:t>
            </a:r>
            <a:endParaRPr lang="en-US" sz="1300" dirty="0"/>
          </a:p>
        </p:txBody>
      </p:sp>
      <p:sp>
        <p:nvSpPr>
          <p:cNvPr id="11" name="card_228"/>
          <p:cNvSpPr/>
          <p:nvPr/>
        </p:nvSpPr>
        <p:spPr>
          <a:xfrm>
            <a:off x="4279392" y="1325880"/>
            <a:ext cx="35204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ircle_229"/>
          <p:cNvSpPr/>
          <p:nvPr/>
        </p:nvSpPr>
        <p:spPr>
          <a:xfrm>
            <a:off x="4507992" y="1508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irclelabel_230"/>
          <p:cNvSpPr txBox="1"/>
          <p:nvPr/>
        </p:nvSpPr>
        <p:spPr>
          <a:xfrm>
            <a:off x="4507992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_231"/>
          <p:cNvSpPr txBox="1"/>
          <p:nvPr/>
        </p:nvSpPr>
        <p:spPr>
          <a:xfrm>
            <a:off x="5285232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Gradient</a:t>
            </a:r>
            <a:endParaRPr lang="en-US" sz="2000" dirty="0"/>
          </a:p>
        </p:txBody>
      </p:sp>
      <p:sp>
        <p:nvSpPr>
          <p:cNvPr id="15" name="text_232"/>
          <p:cNvSpPr txBox="1"/>
          <p:nvPr/>
        </p:nvSpPr>
        <p:spPr>
          <a:xfrm>
            <a:off x="4507992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Grad-CAM · Grad-CAM++ · LayerCAM</a:t>
            </a:r>
            <a:endParaRPr lang="en-US" sz="1500" dirty="0"/>
          </a:p>
        </p:txBody>
      </p:sp>
      <p:sp>
        <p:nvSpPr>
          <p:cNvPr id="16" name="text_233"/>
          <p:cNvSpPr txBox="1"/>
          <p:nvPr/>
        </p:nvSpPr>
        <p:spPr>
          <a:xfrm>
            <a:off x="4507992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Weight feature maps by gradients of s, fused over P3–P5. LayerCAM weights every location separately.</a:t>
            </a:r>
            <a:endParaRPr lang="en-US" sz="1400" dirty="0"/>
          </a:p>
        </p:txBody>
      </p:sp>
      <p:sp>
        <p:nvSpPr>
          <p:cNvPr id="17" name="text_234"/>
          <p:cNvSpPr txBox="1"/>
          <p:nvPr/>
        </p:nvSpPr>
        <p:spPr>
          <a:xfrm>
            <a:off x="4507992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Proposal: why labelled snake</a:t>
            </a:r>
            <a:endParaRPr lang="en-US" sz="1300" dirty="0"/>
          </a:p>
        </p:txBody>
      </p:sp>
      <p:sp>
        <p:nvSpPr>
          <p:cNvPr id="18" name="card_235"/>
          <p:cNvSpPr/>
          <p:nvPr/>
        </p:nvSpPr>
        <p:spPr>
          <a:xfrm>
            <a:off x="8010144" y="1325880"/>
            <a:ext cx="35204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circle_236"/>
          <p:cNvSpPr/>
          <p:nvPr/>
        </p:nvSpPr>
        <p:spPr>
          <a:xfrm>
            <a:off x="8238744" y="15087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irclelabel_237"/>
          <p:cNvSpPr txBox="1"/>
          <p:nvPr/>
        </p:nvSpPr>
        <p:spPr>
          <a:xfrm>
            <a:off x="8238744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_238"/>
          <p:cNvSpPr txBox="1"/>
          <p:nvPr/>
        </p:nvSpPr>
        <p:spPr>
          <a:xfrm>
            <a:off x="9015984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Perturbation</a:t>
            </a:r>
            <a:endParaRPr lang="en-US" sz="2000" dirty="0"/>
          </a:p>
        </p:txBody>
      </p:sp>
      <p:sp>
        <p:nvSpPr>
          <p:cNvPr id="22" name="text_239"/>
          <p:cNvSpPr txBox="1"/>
          <p:nvPr/>
        </p:nvSpPr>
        <p:spPr>
          <a:xfrm>
            <a:off x="8238744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Occlusion · D-RISE</a:t>
            </a:r>
            <a:endParaRPr lang="en-US" sz="1500" dirty="0"/>
          </a:p>
        </p:txBody>
      </p:sp>
      <p:sp>
        <p:nvSpPr>
          <p:cNvPr id="23" name="text_240"/>
          <p:cNvSpPr txBox="1"/>
          <p:nvPr/>
        </p:nvSpPr>
        <p:spPr>
          <a:xfrm>
            <a:off x="8238744" y="2926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Hide patches or random masks and measure the drop in s. Model-agnostic, slow.</a:t>
            </a:r>
            <a:endParaRPr lang="en-US" sz="1400" dirty="0"/>
          </a:p>
        </p:txBody>
      </p:sp>
      <p:sp>
        <p:nvSpPr>
          <p:cNvPr id="24" name="text_241"/>
          <p:cNvSpPr txBox="1"/>
          <p:nvPr/>
        </p:nvSpPr>
        <p:spPr>
          <a:xfrm>
            <a:off x="8238744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Proposal: ground-truth cross-check</a:t>
            </a:r>
            <a:endParaRPr lang="en-US" sz="1300" dirty="0"/>
          </a:p>
        </p:txBody>
      </p:sp>
      <p:sp>
        <p:nvSpPr>
          <p:cNvPr id="25" name="card_242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_243"/>
          <p:cNvSpPr txBox="1"/>
          <p:nvPr/>
        </p:nvSpPr>
        <p:spPr>
          <a:xfrm>
            <a:off x="822960" y="513892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Baselines: </a:t>
            </a:r>
            <a:r>
              <a:rPr lang="en-US" sz="1400" dirty="0">
                <a:solidFill>
                  <a:schemeClr val="tx1"/>
                </a:solidFill>
              </a:rPr>
              <a:t>random map (the proposal's random-order reference) and box prior (a blob on the detected box): does a method do more than highlight the box?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Multi-scale fusion</a:t>
            </a:r>
            <a:endParaRPr lang="en-US" sz="3200" dirty="0"/>
          </a:p>
        </p:txBody>
      </p:sp>
      <p:sp>
        <p:nvSpPr>
          <p:cNvPr id="4" name="grid_244"/>
          <p:cNvSpPr/>
          <p:nvPr/>
        </p:nvSpPr>
        <p:spPr>
          <a:xfrm>
            <a:off x="571500" y="1394460"/>
            <a:ext cx="1143000" cy="1143000"/>
          </a:xfrm>
          <a:prstGeom prst="rect">
            <a:avLst/>
          </a:prstGeom>
          <a:solidFill>
            <a:srgbClr val="97BC62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_245"/>
          <p:cNvSpPr txBox="1"/>
          <p:nvPr/>
        </p:nvSpPr>
        <p:spPr>
          <a:xfrm>
            <a:off x="196596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P3  ·  80 × 80</a:t>
            </a:r>
            <a:endParaRPr lang="en-US" sz="1800" dirty="0"/>
          </a:p>
        </p:txBody>
      </p:sp>
      <p:sp>
        <p:nvSpPr>
          <p:cNvPr id="6" name="text_246"/>
          <p:cNvSpPr txBox="1"/>
          <p:nvPr/>
        </p:nvSpPr>
        <p:spPr>
          <a:xfrm>
            <a:off x="19659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stride 8 · small objects, fine detail</a:t>
            </a:r>
            <a:endParaRPr lang="en-US" sz="1400" dirty="0"/>
          </a:p>
        </p:txBody>
      </p:sp>
      <p:sp>
        <p:nvSpPr>
          <p:cNvPr id="7" name="arrow_247"/>
          <p:cNvSpPr/>
          <p:nvPr/>
        </p:nvSpPr>
        <p:spPr>
          <a:xfrm>
            <a:off x="4800600" y="1783080"/>
            <a:ext cx="731520" cy="365760"/>
          </a:xfrm>
          <a:prstGeom prst="rightArrow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grid_248"/>
          <p:cNvSpPr/>
          <p:nvPr/>
        </p:nvSpPr>
        <p:spPr>
          <a:xfrm>
            <a:off x="685800" y="2971800"/>
            <a:ext cx="914400" cy="914400"/>
          </a:xfrm>
          <a:prstGeom prst="rect">
            <a:avLst/>
          </a:prstGeom>
          <a:solidFill>
            <a:srgbClr val="97BC62">
              <a:alpha val="80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_249"/>
          <p:cNvSpPr txBox="1"/>
          <p:nvPr/>
        </p:nvSpPr>
        <p:spPr>
          <a:xfrm>
            <a:off x="19659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P4  ·  40 × 40</a:t>
            </a:r>
            <a:endParaRPr lang="en-US" sz="1800" dirty="0"/>
          </a:p>
        </p:txBody>
      </p:sp>
      <p:sp>
        <p:nvSpPr>
          <p:cNvPr id="10" name="text_250"/>
          <p:cNvSpPr txBox="1"/>
          <p:nvPr/>
        </p:nvSpPr>
        <p:spPr>
          <a:xfrm>
            <a:off x="196596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stride 16 · medium objects</a:t>
            </a:r>
            <a:endParaRPr lang="en-US" sz="1400" dirty="0"/>
          </a:p>
        </p:txBody>
      </p:sp>
      <p:sp>
        <p:nvSpPr>
          <p:cNvPr id="11" name="arrow_251"/>
          <p:cNvSpPr/>
          <p:nvPr/>
        </p:nvSpPr>
        <p:spPr>
          <a:xfrm>
            <a:off x="4800600" y="3246120"/>
            <a:ext cx="731520" cy="365760"/>
          </a:xfrm>
          <a:prstGeom prst="rightArrow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grid_252"/>
          <p:cNvSpPr/>
          <p:nvPr/>
        </p:nvSpPr>
        <p:spPr>
          <a:xfrm>
            <a:off x="800100" y="4549140"/>
            <a:ext cx="685800" cy="685800"/>
          </a:xfrm>
          <a:prstGeom prst="rect">
            <a:avLst/>
          </a:prstGeom>
          <a:solidFill>
            <a:srgbClr val="97BC62">
              <a:alpha val="60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_253"/>
          <p:cNvSpPr txBox="1"/>
          <p:nvPr/>
        </p:nvSpPr>
        <p:spPr>
          <a:xfrm>
            <a:off x="1965960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P5  ·  20 × 20</a:t>
            </a:r>
            <a:endParaRPr lang="en-US" sz="1800" dirty="0"/>
          </a:p>
        </p:txBody>
      </p:sp>
      <p:sp>
        <p:nvSpPr>
          <p:cNvPr id="14" name="text_254"/>
          <p:cNvSpPr txBox="1"/>
          <p:nvPr/>
        </p:nvSpPr>
        <p:spPr>
          <a:xfrm>
            <a:off x="1965960" y="4892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stride 32 · large objects, coarse</a:t>
            </a:r>
            <a:endParaRPr lang="en-US" sz="1400" dirty="0"/>
          </a:p>
        </p:txBody>
      </p:sp>
      <p:sp>
        <p:nvSpPr>
          <p:cNvPr id="15" name="arrow_255"/>
          <p:cNvSpPr/>
          <p:nvPr/>
        </p:nvSpPr>
        <p:spPr>
          <a:xfrm>
            <a:off x="4800600" y="4709160"/>
            <a:ext cx="731520" cy="365760"/>
          </a:xfrm>
          <a:prstGeom prst="rightArrow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ard_256"/>
          <p:cNvSpPr/>
          <p:nvPr/>
        </p:nvSpPr>
        <p:spPr>
          <a:xfrm>
            <a:off x="5806440" y="1371600"/>
            <a:ext cx="5833872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_257"/>
          <p:cNvSpPr txBox="1"/>
          <p:nvPr/>
        </p:nvSpPr>
        <p:spPr>
          <a:xfrm>
            <a:off x="608076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Fusion</a:t>
            </a:r>
            <a:endParaRPr lang="en-US" sz="2000" dirty="0"/>
          </a:p>
        </p:txBody>
      </p:sp>
      <p:sp>
        <p:nvSpPr>
          <p:cNvPr id="18" name="bullets_258"/>
          <p:cNvSpPr txBox="1"/>
          <p:nvPr/>
        </p:nvSpPr>
        <p:spPr>
          <a:xfrm>
            <a:off x="6080760" y="210312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Compute the CAM on layers 16, 19 and 22 (P3, P4, P5)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Upsample each map to the input size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Normalise each map to [0, 1]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Fuse: mean (max and sum also tested)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Map back to original image coordinates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Ablations: P3-only, P4-only, P5-only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Evaluation protocol: six axes</a:t>
            </a:r>
            <a:endParaRPr lang="en-US" sz="3200" dirty="0"/>
          </a:p>
        </p:txBody>
      </p:sp>
      <p:sp>
        <p:nvSpPr>
          <p:cNvPr id="4" name="card_259"/>
          <p:cNvSpPr/>
          <p:nvPr/>
        </p:nvSpPr>
        <p:spPr>
          <a:xfrm>
            <a:off x="548640" y="132588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_260"/>
          <p:cNvSpPr/>
          <p:nvPr/>
        </p:nvSpPr>
        <p:spPr>
          <a:xfrm>
            <a:off x="777240" y="152704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label_261"/>
          <p:cNvSpPr txBox="1"/>
          <p:nvPr/>
        </p:nvSpPr>
        <p:spPr>
          <a:xfrm>
            <a:off x="7772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_262"/>
          <p:cNvSpPr txBox="1"/>
          <p:nvPr/>
        </p:nvSpPr>
        <p:spPr>
          <a:xfrm>
            <a:off x="1508760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Faithfulness</a:t>
            </a:r>
            <a:endParaRPr lang="en-US" sz="1900" dirty="0"/>
          </a:p>
        </p:txBody>
      </p:sp>
      <p:sp>
        <p:nvSpPr>
          <p:cNvPr id="8" name="text_263"/>
          <p:cNvSpPr txBox="1"/>
          <p:nvPr/>
        </p:nvSpPr>
        <p:spPr>
          <a:xfrm>
            <a:off x="77724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Deletion ↓ and insertion ↑ AUC, compared with the random baseline on the same detection</a:t>
            </a:r>
            <a:endParaRPr lang="en-US" sz="1400" dirty="0"/>
          </a:p>
        </p:txBody>
      </p:sp>
      <p:sp>
        <p:nvSpPr>
          <p:cNvPr id="9" name="card_264"/>
          <p:cNvSpPr/>
          <p:nvPr/>
        </p:nvSpPr>
        <p:spPr>
          <a:xfrm>
            <a:off x="4279392" y="132588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ircle_265"/>
          <p:cNvSpPr/>
          <p:nvPr/>
        </p:nvSpPr>
        <p:spPr>
          <a:xfrm>
            <a:off x="4507992" y="15270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irclelabel_266"/>
          <p:cNvSpPr txBox="1"/>
          <p:nvPr/>
        </p:nvSpPr>
        <p:spPr>
          <a:xfrm>
            <a:off x="4507992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_267"/>
          <p:cNvSpPr txBox="1"/>
          <p:nvPr/>
        </p:nvSpPr>
        <p:spPr>
          <a:xfrm>
            <a:off x="5239512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Localisation</a:t>
            </a:r>
            <a:endParaRPr lang="en-US" sz="1900" dirty="0"/>
          </a:p>
        </p:txBody>
      </p:sp>
      <p:sp>
        <p:nvSpPr>
          <p:cNvPr id="13" name="text_268"/>
          <p:cNvSpPr txBox="1"/>
          <p:nvPr/>
        </p:nvSpPr>
        <p:spPr>
          <a:xfrm>
            <a:off x="4507992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Pointing game, energy inside GT, saliency IoU, against box and polygon</a:t>
            </a:r>
            <a:endParaRPr lang="en-US" sz="1400" dirty="0"/>
          </a:p>
        </p:txBody>
      </p:sp>
      <p:sp>
        <p:nvSpPr>
          <p:cNvPr id="14" name="card_269"/>
          <p:cNvSpPr/>
          <p:nvPr/>
        </p:nvSpPr>
        <p:spPr>
          <a:xfrm>
            <a:off x="8010144" y="132588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circle_270"/>
          <p:cNvSpPr/>
          <p:nvPr/>
        </p:nvSpPr>
        <p:spPr>
          <a:xfrm>
            <a:off x="8238744" y="15270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irclelabel_271"/>
          <p:cNvSpPr txBox="1"/>
          <p:nvPr/>
        </p:nvSpPr>
        <p:spPr>
          <a:xfrm>
            <a:off x="8238744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_272"/>
          <p:cNvSpPr txBox="1"/>
          <p:nvPr/>
        </p:nvSpPr>
        <p:spPr>
          <a:xfrm>
            <a:off x="8970264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Agreement</a:t>
            </a:r>
            <a:endParaRPr lang="en-US" sz="1900" dirty="0"/>
          </a:p>
        </p:txBody>
      </p:sp>
      <p:sp>
        <p:nvSpPr>
          <p:cNvPr id="18" name="text_273"/>
          <p:cNvSpPr txBox="1"/>
          <p:nvPr/>
        </p:nvSpPr>
        <p:spPr>
          <a:xfrm>
            <a:off x="8238744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Spearman rank and top-20 % IoU between methods</a:t>
            </a:r>
            <a:endParaRPr lang="en-US" sz="1400" dirty="0"/>
          </a:p>
        </p:txBody>
      </p:sp>
      <p:sp>
        <p:nvSpPr>
          <p:cNvPr id="19" name="card_274"/>
          <p:cNvSpPr/>
          <p:nvPr/>
        </p:nvSpPr>
        <p:spPr>
          <a:xfrm>
            <a:off x="548640" y="356616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ircle_275"/>
          <p:cNvSpPr/>
          <p:nvPr/>
        </p:nvSpPr>
        <p:spPr>
          <a:xfrm>
            <a:off x="777240" y="37673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irclelabel_276"/>
          <p:cNvSpPr txBox="1"/>
          <p:nvPr/>
        </p:nvSpPr>
        <p:spPr>
          <a:xfrm>
            <a:off x="77724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_277"/>
          <p:cNvSpPr txBox="1"/>
          <p:nvPr/>
        </p:nvSpPr>
        <p:spPr>
          <a:xfrm>
            <a:off x="1508760" y="3813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Sanity</a:t>
            </a:r>
            <a:endParaRPr lang="en-US" sz="1900" dirty="0"/>
          </a:p>
        </p:txBody>
      </p:sp>
      <p:sp>
        <p:nvSpPr>
          <p:cNvPr id="23" name="text_278"/>
          <p:cNvSpPr txBox="1"/>
          <p:nvPr/>
        </p:nvSpPr>
        <p:spPr>
          <a:xfrm>
            <a:off x="777240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Cascading weight randomisation: the map must change when the model is destroyed</a:t>
            </a:r>
            <a:endParaRPr lang="en-US" sz="1400" dirty="0"/>
          </a:p>
        </p:txBody>
      </p:sp>
      <p:sp>
        <p:nvSpPr>
          <p:cNvPr id="24" name="card_279"/>
          <p:cNvSpPr/>
          <p:nvPr/>
        </p:nvSpPr>
        <p:spPr>
          <a:xfrm>
            <a:off x="4279392" y="356616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circle_280"/>
          <p:cNvSpPr/>
          <p:nvPr/>
        </p:nvSpPr>
        <p:spPr>
          <a:xfrm>
            <a:off x="4507992" y="37673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circlelabel_281"/>
          <p:cNvSpPr txBox="1"/>
          <p:nvPr/>
        </p:nvSpPr>
        <p:spPr>
          <a:xfrm>
            <a:off x="4507992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_282"/>
          <p:cNvSpPr txBox="1"/>
          <p:nvPr/>
        </p:nvSpPr>
        <p:spPr>
          <a:xfrm>
            <a:off x="5239512" y="3813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Stability</a:t>
            </a:r>
            <a:endParaRPr lang="en-US" sz="1900" dirty="0"/>
          </a:p>
        </p:txBody>
      </p:sp>
      <p:sp>
        <p:nvSpPr>
          <p:cNvPr id="28" name="text_283"/>
          <p:cNvSpPr txBox="1"/>
          <p:nvPr/>
        </p:nvSpPr>
        <p:spPr>
          <a:xfrm>
            <a:off x="4507992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Similarity of maps under small input noise (σ = 0.02)</a:t>
            </a:r>
            <a:endParaRPr lang="en-US" sz="1400" dirty="0"/>
          </a:p>
        </p:txBody>
      </p:sp>
      <p:sp>
        <p:nvSpPr>
          <p:cNvPr id="29" name="card_284"/>
          <p:cNvSpPr/>
          <p:nvPr/>
        </p:nvSpPr>
        <p:spPr>
          <a:xfrm>
            <a:off x="8010144" y="356616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circle_285"/>
          <p:cNvSpPr/>
          <p:nvPr/>
        </p:nvSpPr>
        <p:spPr>
          <a:xfrm>
            <a:off x="8238744" y="37673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circlelabel_286"/>
          <p:cNvSpPr txBox="1"/>
          <p:nvPr/>
        </p:nvSpPr>
        <p:spPr>
          <a:xfrm>
            <a:off x="8238744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_287"/>
          <p:cNvSpPr txBox="1"/>
          <p:nvPr/>
        </p:nvSpPr>
        <p:spPr>
          <a:xfrm>
            <a:off x="8970264" y="3813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Cost</a:t>
            </a:r>
            <a:endParaRPr lang="en-US" sz="1900" dirty="0"/>
          </a:p>
        </p:txBody>
      </p:sp>
      <p:sp>
        <p:nvSpPr>
          <p:cNvPr id="33" name="text_288"/>
          <p:cNvSpPr txBox="1"/>
          <p:nvPr/>
        </p:nvSpPr>
        <p:spPr>
          <a:xfrm>
            <a:off x="8238744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Milliseconds per explanation on the target GPU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Hard cases and explanation-based check</a:t>
            </a:r>
            <a:endParaRPr lang="en-US" sz="3200" dirty="0"/>
          </a:p>
        </p:txBody>
      </p:sp>
      <p:sp>
        <p:nvSpPr>
          <p:cNvPr id="4" name="card_322"/>
          <p:cNvSpPr/>
          <p:nvPr/>
        </p:nvSpPr>
        <p:spPr>
          <a:xfrm>
            <a:off x="548640" y="1325880"/>
            <a:ext cx="5349240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_323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label_324"/>
          <p:cNvSpPr txBox="1"/>
          <p:nvPr/>
        </p:nvSpPr>
        <p:spPr>
          <a:xfrm>
            <a:off x="8229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_325"/>
          <p:cNvSpPr txBox="1"/>
          <p:nvPr/>
        </p:nvSpPr>
        <p:spPr>
          <a:xfrm>
            <a:off x="160020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Matched snake / look-alike pairs</a:t>
            </a:r>
            <a:endParaRPr lang="en-US" sz="1800" dirty="0"/>
          </a:p>
        </p:txBody>
      </p:sp>
      <p:sp>
        <p:nvSpPr>
          <p:cNvPr id="8" name="bullets_326"/>
          <p:cNvSpPr txBox="1"/>
          <p:nvPr/>
        </p:nvSpPr>
        <p:spPr>
          <a:xfrm>
            <a:off x="82296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Embed every detection: RoI-aligned P5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Pair each look-alike, confusion or false positive with its most similar real snake (cosine)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Explain both with all methods, side by side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Question: does the model use body / head shape or a snake-like texture?</a:t>
            </a:r>
            <a:endParaRPr lang="en-US" sz="1500" dirty="0"/>
          </a:p>
        </p:txBody>
      </p:sp>
      <p:sp>
        <p:nvSpPr>
          <p:cNvPr id="9" name="card_327"/>
          <p:cNvSpPr/>
          <p:nvPr/>
        </p:nvSpPr>
        <p:spPr>
          <a:xfrm>
            <a:off x="6263640" y="1325880"/>
            <a:ext cx="5376672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ircle_328"/>
          <p:cNvSpPr/>
          <p:nvPr/>
        </p:nvSpPr>
        <p:spPr>
          <a:xfrm>
            <a:off x="6537960" y="1554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irclelabel_329"/>
          <p:cNvSpPr txBox="1"/>
          <p:nvPr/>
        </p:nvSpPr>
        <p:spPr>
          <a:xfrm>
            <a:off x="65379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_330"/>
          <p:cNvSpPr txBox="1"/>
          <p:nvPr/>
        </p:nvSpPr>
        <p:spPr>
          <a:xfrm>
            <a:off x="731520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Explanation-based verification</a:t>
            </a:r>
            <a:endParaRPr lang="en-US" sz="1800" dirty="0"/>
          </a:p>
        </p:txBody>
      </p:sp>
      <p:sp>
        <p:nvSpPr>
          <p:cNvPr id="13" name="bullets_331"/>
          <p:cNvSpPr txBox="1"/>
          <p:nvPr/>
        </p:nvSpPr>
        <p:spPr>
          <a:xfrm>
            <a:off x="653796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Features per detection: share of saliency inside the box, peak inside the box, agreement between methods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Logistic regression trained on validation, tested on test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Target: is this detection wrong?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Compared with confidence alone: AUROC and false alarms at 90 % / 95 % recall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Runtime pipeline</a:t>
            </a:r>
            <a:endParaRPr lang="en-US" sz="3200" dirty="0"/>
          </a:p>
        </p:txBody>
      </p:sp>
      <p:sp>
        <p:nvSpPr>
          <p:cNvPr id="4" name="card_332"/>
          <p:cNvSpPr/>
          <p:nvPr/>
        </p:nvSpPr>
        <p:spPr>
          <a:xfrm>
            <a:off x="548640" y="132588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_333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label_334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_335"/>
          <p:cNvSpPr txBox="1"/>
          <p:nvPr/>
        </p:nvSpPr>
        <p:spPr>
          <a:xfrm>
            <a:off x="1554480" y="14630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Conflict resolution</a:t>
            </a:r>
            <a:endParaRPr lang="en-US" sz="1700" dirty="0"/>
          </a:p>
        </p:txBody>
      </p:sp>
      <p:sp>
        <p:nvSpPr>
          <p:cNvPr id="8" name="text_336"/>
          <p:cNvSpPr txBox="1"/>
          <p:nvPr/>
        </p:nvSpPr>
        <p:spPr>
          <a:xfrm>
            <a:off x="1554480" y="1874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Overlapping snake and look-alike: keep snake unless the look-alike is ≥ 0.15 more confident</a:t>
            </a:r>
            <a:endParaRPr lang="en-US" sz="1400" dirty="0"/>
          </a:p>
        </p:txBody>
      </p:sp>
      <p:sp>
        <p:nvSpPr>
          <p:cNvPr id="9" name="card_337"/>
          <p:cNvSpPr/>
          <p:nvPr/>
        </p:nvSpPr>
        <p:spPr>
          <a:xfrm>
            <a:off x="6126480" y="132588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ircle_338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irclelabel_339"/>
          <p:cNvSpPr txBox="1"/>
          <p:nvPr/>
        </p:nvSpPr>
        <p:spPr>
          <a:xfrm>
            <a:off x="63093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_340"/>
          <p:cNvSpPr txBox="1"/>
          <p:nvPr/>
        </p:nvSpPr>
        <p:spPr>
          <a:xfrm>
            <a:off x="7132320" y="14630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Small-object filter</a:t>
            </a:r>
            <a:endParaRPr lang="en-US" sz="1700" dirty="0"/>
          </a:p>
        </p:txBody>
      </p:sp>
      <p:sp>
        <p:nvSpPr>
          <p:cNvPr id="13" name="text_341"/>
          <p:cNvSpPr txBox="1"/>
          <p:nvPr/>
        </p:nvSpPr>
        <p:spPr>
          <a:xfrm>
            <a:off x="7132320" y="1874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Drop boxes &lt; 0.1 % of the frame</a:t>
            </a:r>
            <a:endParaRPr lang="en-US" sz="1400" dirty="0"/>
          </a:p>
        </p:txBody>
      </p:sp>
      <p:sp>
        <p:nvSpPr>
          <p:cNvPr id="14" name="card_342"/>
          <p:cNvSpPr/>
          <p:nvPr/>
        </p:nvSpPr>
        <p:spPr>
          <a:xfrm>
            <a:off x="548640" y="278892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circle_343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irclelabel_344"/>
          <p:cNvSpPr txBox="1"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_345"/>
          <p:cNvSpPr txBox="1"/>
          <p:nvPr/>
        </p:nvSpPr>
        <p:spPr>
          <a:xfrm>
            <a:off x="1554480" y="29260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Venom status</a:t>
            </a:r>
            <a:endParaRPr lang="en-US" sz="1700" dirty="0"/>
          </a:p>
        </p:txBody>
      </p:sp>
      <p:sp>
        <p:nvSpPr>
          <p:cNvPr id="18" name="text_346"/>
          <p:cNvSpPr txBox="1"/>
          <p:nvPr/>
        </p:nvSpPr>
        <p:spPr>
          <a:xfrm>
            <a:off x="1554480" y="33375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Member B's classifier → P(venomous); unknown counts as venomous</a:t>
            </a:r>
            <a:endParaRPr lang="en-US" sz="1400" dirty="0"/>
          </a:p>
        </p:txBody>
      </p:sp>
      <p:sp>
        <p:nvSpPr>
          <p:cNvPr id="19" name="card_347"/>
          <p:cNvSpPr/>
          <p:nvPr/>
        </p:nvSpPr>
        <p:spPr>
          <a:xfrm>
            <a:off x="6126480" y="278892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ircle_348"/>
          <p:cNvSpPr/>
          <p:nvPr/>
        </p:nvSpPr>
        <p:spPr>
          <a:xfrm>
            <a:off x="6309360" y="3108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irclelabel_349"/>
          <p:cNvSpPr txBox="1"/>
          <p:nvPr/>
        </p:nvSpPr>
        <p:spPr>
          <a:xfrm>
            <a:off x="630936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_350"/>
          <p:cNvSpPr txBox="1"/>
          <p:nvPr/>
        </p:nvSpPr>
        <p:spPr>
          <a:xfrm>
            <a:off x="7132320" y="29260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Proximity</a:t>
            </a:r>
            <a:endParaRPr lang="en-US" sz="1700" dirty="0"/>
          </a:p>
        </p:txBody>
      </p:sp>
      <p:sp>
        <p:nvSpPr>
          <p:cNvPr id="23" name="text_351"/>
          <p:cNvSpPr txBox="1"/>
          <p:nvPr/>
        </p:nvSpPr>
        <p:spPr>
          <a:xfrm>
            <a:off x="7132320" y="33375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clip((√area − √0.005) / (√0.25 − √0.005), 0, 1)</a:t>
            </a:r>
            <a:endParaRPr lang="en-US" sz="1400" dirty="0"/>
          </a:p>
        </p:txBody>
      </p:sp>
      <p:sp>
        <p:nvSpPr>
          <p:cNvPr id="24" name="card_352"/>
          <p:cNvSpPr/>
          <p:nvPr/>
        </p:nvSpPr>
        <p:spPr>
          <a:xfrm>
            <a:off x="548640" y="425196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circle_353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circlelabel_354"/>
          <p:cNvSpPr txBox="1"/>
          <p:nvPr/>
        </p:nvSpPr>
        <p:spPr>
          <a:xfrm>
            <a:off x="73152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_355"/>
          <p:cNvSpPr txBox="1"/>
          <p:nvPr/>
        </p:nvSpPr>
        <p:spPr>
          <a:xfrm>
            <a:off x="1554480" y="4389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Confirmation</a:t>
            </a:r>
            <a:endParaRPr lang="en-US" sz="1700" dirty="0"/>
          </a:p>
        </p:txBody>
      </p:sp>
      <p:sp>
        <p:nvSpPr>
          <p:cNvPr id="28" name="text_356"/>
          <p:cNvSpPr txBox="1"/>
          <p:nvPr/>
        </p:nvSpPr>
        <p:spPr>
          <a:xfrm>
            <a:off x="1554480" y="48006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Snake in ≥ 3 of the last 5 frames</a:t>
            </a:r>
            <a:endParaRPr lang="en-US" sz="1400" dirty="0"/>
          </a:p>
        </p:txBody>
      </p:sp>
      <p:sp>
        <p:nvSpPr>
          <p:cNvPr id="29" name="card_357"/>
          <p:cNvSpPr/>
          <p:nvPr/>
        </p:nvSpPr>
        <p:spPr>
          <a:xfrm>
            <a:off x="6126480" y="4251960"/>
            <a:ext cx="5349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circle_358"/>
          <p:cNvSpPr/>
          <p:nvPr/>
        </p:nvSpPr>
        <p:spPr>
          <a:xfrm>
            <a:off x="6309360" y="45720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circlelabel_359"/>
          <p:cNvSpPr txBox="1"/>
          <p:nvPr/>
        </p:nvSpPr>
        <p:spPr>
          <a:xfrm>
            <a:off x="63093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_360"/>
          <p:cNvSpPr txBox="1"/>
          <p:nvPr/>
        </p:nvSpPr>
        <p:spPr>
          <a:xfrm>
            <a:off x="7132320" y="4389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Threat and alert</a:t>
            </a:r>
            <a:endParaRPr lang="en-US" sz="1700" dirty="0"/>
          </a:p>
        </p:txBody>
      </p:sp>
      <p:sp>
        <p:nvSpPr>
          <p:cNvPr id="33" name="text_361"/>
          <p:cNvSpPr txBox="1"/>
          <p:nvPr/>
        </p:nvSpPr>
        <p:spPr>
          <a:xfrm>
            <a:off x="7132320" y="48006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 = 100 · conf · (0.6 · proximity + 0.4 · P(venomous)); beep 1,500 → 150 ms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Work plan</a:t>
            </a:r>
            <a:endParaRPr lang="en-US" sz="3200" dirty="0"/>
          </a:p>
        </p:txBody>
      </p:sp>
      <p:sp>
        <p:nvSpPr>
          <p:cNvPr id="4" name="circle_362"/>
          <p:cNvSpPr/>
          <p:nvPr/>
        </p:nvSpPr>
        <p:spPr>
          <a:xfrm>
            <a:off x="96012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label_363"/>
          <p:cNvSpPr txBox="1"/>
          <p:nvPr/>
        </p:nvSpPr>
        <p:spPr>
          <a:xfrm>
            <a:off x="9601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line_364"/>
          <p:cNvSpPr/>
          <p:nvPr/>
        </p:nvSpPr>
        <p:spPr>
          <a:xfrm>
            <a:off x="1737360" y="2377440"/>
            <a:ext cx="77724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_365"/>
          <p:cNvSpPr txBox="1"/>
          <p:nvPr/>
        </p:nvSpPr>
        <p:spPr>
          <a:xfrm>
            <a:off x="548640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Setup and baseline</a:t>
            </a:r>
            <a:endParaRPr lang="en-US" sz="1400" dirty="0"/>
          </a:p>
        </p:txBody>
      </p:sp>
      <p:sp>
        <p:nvSpPr>
          <p:cNvPr id="8" name="text_366"/>
          <p:cNvSpPr txBox="1"/>
          <p:nvPr/>
        </p:nvSpPr>
        <p:spPr>
          <a:xfrm>
            <a:off x="54864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circle_367"/>
          <p:cNvSpPr/>
          <p:nvPr/>
        </p:nvSpPr>
        <p:spPr>
          <a:xfrm>
            <a:off x="2551176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irclelabel_368"/>
          <p:cNvSpPr txBox="1"/>
          <p:nvPr/>
        </p:nvSpPr>
        <p:spPr>
          <a:xfrm>
            <a:off x="255117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line_369"/>
          <p:cNvSpPr/>
          <p:nvPr/>
        </p:nvSpPr>
        <p:spPr>
          <a:xfrm>
            <a:off x="3328416" y="2377440"/>
            <a:ext cx="77724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_370"/>
          <p:cNvSpPr txBox="1"/>
          <p:nvPr/>
        </p:nvSpPr>
        <p:spPr>
          <a:xfrm>
            <a:off x="2139696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Explainers</a:t>
            </a:r>
            <a:endParaRPr lang="en-US" sz="1400" dirty="0"/>
          </a:p>
        </p:txBody>
      </p:sp>
      <p:sp>
        <p:nvSpPr>
          <p:cNvPr id="13" name="text_371"/>
          <p:cNvSpPr txBox="1"/>
          <p:nvPr/>
        </p:nvSpPr>
        <p:spPr>
          <a:xfrm>
            <a:off x="2139696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circle_372"/>
          <p:cNvSpPr/>
          <p:nvPr/>
        </p:nvSpPr>
        <p:spPr>
          <a:xfrm>
            <a:off x="4142232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circlelabel_373"/>
          <p:cNvSpPr txBox="1"/>
          <p:nvPr/>
        </p:nvSpPr>
        <p:spPr>
          <a:xfrm>
            <a:off x="414223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line_374"/>
          <p:cNvSpPr/>
          <p:nvPr/>
        </p:nvSpPr>
        <p:spPr>
          <a:xfrm>
            <a:off x="4919472" y="2377440"/>
            <a:ext cx="77724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_375"/>
          <p:cNvSpPr txBox="1"/>
          <p:nvPr/>
        </p:nvSpPr>
        <p:spPr>
          <a:xfrm>
            <a:off x="3730752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 harness</a:t>
            </a:r>
            <a:endParaRPr lang="en-US" sz="1400" dirty="0"/>
          </a:p>
        </p:txBody>
      </p:sp>
      <p:sp>
        <p:nvSpPr>
          <p:cNvPr id="18" name="text_376"/>
          <p:cNvSpPr txBox="1"/>
          <p:nvPr/>
        </p:nvSpPr>
        <p:spPr>
          <a:xfrm>
            <a:off x="3730752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A (shared)</a:t>
            </a:r>
            <a:endParaRPr lang="en-US" sz="1300" dirty="0"/>
          </a:p>
        </p:txBody>
      </p:sp>
      <p:sp>
        <p:nvSpPr>
          <p:cNvPr id="19" name="circle_377"/>
          <p:cNvSpPr/>
          <p:nvPr/>
        </p:nvSpPr>
        <p:spPr>
          <a:xfrm>
            <a:off x="5733288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irclelabel_378"/>
          <p:cNvSpPr txBox="1"/>
          <p:nvPr/>
        </p:nvSpPr>
        <p:spPr>
          <a:xfrm>
            <a:off x="573328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line_379"/>
          <p:cNvSpPr/>
          <p:nvPr/>
        </p:nvSpPr>
        <p:spPr>
          <a:xfrm>
            <a:off x="6510528" y="2377440"/>
            <a:ext cx="77724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_380"/>
          <p:cNvSpPr txBox="1"/>
          <p:nvPr/>
        </p:nvSpPr>
        <p:spPr>
          <a:xfrm>
            <a:off x="5321808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Benchmark and analysis</a:t>
            </a:r>
            <a:endParaRPr lang="en-US" sz="1400" dirty="0"/>
          </a:p>
        </p:txBody>
      </p:sp>
      <p:sp>
        <p:nvSpPr>
          <p:cNvPr id="23" name="text_381"/>
          <p:cNvSpPr txBox="1"/>
          <p:nvPr/>
        </p:nvSpPr>
        <p:spPr>
          <a:xfrm>
            <a:off x="5321808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A</a:t>
            </a:r>
            <a:endParaRPr lang="en-US" sz="1300" dirty="0"/>
          </a:p>
        </p:txBody>
      </p:sp>
      <p:sp>
        <p:nvSpPr>
          <p:cNvPr id="24" name="circle_382"/>
          <p:cNvSpPr/>
          <p:nvPr/>
        </p:nvSpPr>
        <p:spPr>
          <a:xfrm>
            <a:off x="7324344" y="20116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circlelabel_383"/>
          <p:cNvSpPr txBox="1"/>
          <p:nvPr/>
        </p:nvSpPr>
        <p:spPr>
          <a:xfrm>
            <a:off x="732434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line_384"/>
          <p:cNvSpPr/>
          <p:nvPr/>
        </p:nvSpPr>
        <p:spPr>
          <a:xfrm>
            <a:off x="8101584" y="2377440"/>
            <a:ext cx="77724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_385"/>
          <p:cNvSpPr txBox="1"/>
          <p:nvPr/>
        </p:nvSpPr>
        <p:spPr>
          <a:xfrm>
            <a:off x="6912864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Venom stage</a:t>
            </a:r>
            <a:endParaRPr lang="en-US" sz="1400" dirty="0"/>
          </a:p>
        </p:txBody>
      </p:sp>
      <p:sp>
        <p:nvSpPr>
          <p:cNvPr id="28" name="text_386"/>
          <p:cNvSpPr txBox="1"/>
          <p:nvPr/>
        </p:nvSpPr>
        <p:spPr>
          <a:xfrm>
            <a:off x="6912864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B</a:t>
            </a:r>
            <a:endParaRPr lang="en-US" sz="1300" dirty="0"/>
          </a:p>
        </p:txBody>
      </p:sp>
      <p:sp>
        <p:nvSpPr>
          <p:cNvPr id="29" name="circle_387"/>
          <p:cNvSpPr/>
          <p:nvPr/>
        </p:nvSpPr>
        <p:spPr>
          <a:xfrm>
            <a:off x="8915400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circlelabel_388"/>
          <p:cNvSpPr txBox="1"/>
          <p:nvPr/>
        </p:nvSpPr>
        <p:spPr>
          <a:xfrm>
            <a:off x="89154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line_389"/>
          <p:cNvSpPr/>
          <p:nvPr/>
        </p:nvSpPr>
        <p:spPr>
          <a:xfrm>
            <a:off x="9692640" y="2377440"/>
            <a:ext cx="777240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_390"/>
          <p:cNvSpPr txBox="1"/>
          <p:nvPr/>
        </p:nvSpPr>
        <p:spPr>
          <a:xfrm>
            <a:off x="8503920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33" name="text_391"/>
          <p:cNvSpPr txBox="1"/>
          <p:nvPr/>
        </p:nvSpPr>
        <p:spPr>
          <a:xfrm>
            <a:off x="850392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A + B</a:t>
            </a:r>
            <a:endParaRPr lang="en-US" sz="1300" dirty="0"/>
          </a:p>
        </p:txBody>
      </p:sp>
      <p:sp>
        <p:nvSpPr>
          <p:cNvPr id="34" name="circle_392"/>
          <p:cNvSpPr/>
          <p:nvPr/>
        </p:nvSpPr>
        <p:spPr>
          <a:xfrm>
            <a:off x="10506456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circlelabel_393"/>
          <p:cNvSpPr txBox="1"/>
          <p:nvPr/>
        </p:nvSpPr>
        <p:spPr>
          <a:xfrm>
            <a:off x="1050645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7</a:t>
            </a:r>
            <a:endParaRPr lang="en-US" sz="2000" dirty="0"/>
          </a:p>
        </p:txBody>
      </p:sp>
      <p:sp>
        <p:nvSpPr>
          <p:cNvPr id="36" name="text_394"/>
          <p:cNvSpPr txBox="1"/>
          <p:nvPr/>
        </p:nvSpPr>
        <p:spPr>
          <a:xfrm>
            <a:off x="10094976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Reporting</a:t>
            </a:r>
            <a:endParaRPr lang="en-US" sz="1400" dirty="0"/>
          </a:p>
        </p:txBody>
      </p:sp>
      <p:sp>
        <p:nvSpPr>
          <p:cNvPr id="37" name="text_395"/>
          <p:cNvSpPr txBox="1"/>
          <p:nvPr/>
        </p:nvSpPr>
        <p:spPr>
          <a:xfrm>
            <a:off x="10094976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A + B</a:t>
            </a:r>
            <a:endParaRPr lang="en-US" sz="1300" dirty="0"/>
          </a:p>
        </p:txBody>
      </p:sp>
      <p:sp>
        <p:nvSpPr>
          <p:cNvPr id="38" name="card_396"/>
          <p:cNvSpPr/>
          <p:nvPr/>
        </p:nvSpPr>
        <p:spPr>
          <a:xfrm>
            <a:off x="548640" y="4480560"/>
            <a:ext cx="1109441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_397"/>
          <p:cNvSpPr txBox="1"/>
          <p:nvPr/>
        </p:nvSpPr>
        <p:spPr>
          <a:xfrm>
            <a:off x="822960" y="457200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Shared contract: </a:t>
            </a:r>
            <a:r>
              <a:rPr lang="en-US" sz="1500" dirty="0">
                <a:solidFill>
                  <a:schemeClr val="tx1"/>
                </a:solidFill>
              </a:rPr>
              <a:t>every explainer returns a [0, 1] map aligned with the original image, and every metric takes a map plus a score function, so detector and classifier explanations are evaluated the same way.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37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 on objectives, dataset or methodology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keGuard">
  <a:themeElements>
    <a:clrScheme name="SnakeGuard">
      <a:dk1>
        <a:srgbClr val="1B2A22"/>
      </a:dk1>
      <a:lt1>
        <a:srgbClr val="FFFFFF"/>
      </a:lt1>
      <a:dk2>
        <a:srgbClr val="2C5F2D"/>
      </a:dk2>
      <a:lt2>
        <a:srgbClr val="EEF3EA"/>
      </a:lt2>
      <a:accent1>
        <a:srgbClr val="2C5F2D"/>
      </a:accent1>
      <a:accent2>
        <a:srgbClr val="97BC62"/>
      </a:accent2>
      <a:accent3>
        <a:srgbClr val="E0A030"/>
      </a:accent3>
      <a:accent4>
        <a:srgbClr val="C0392B"/>
      </a:accent4>
      <a:accent5>
        <a:srgbClr val="2E86C1"/>
      </a:accent5>
      <a:accent6>
        <a:srgbClr val="5D6D7E"/>
      </a:accent6>
      <a:hlink>
        <a:srgbClr val="2E86C1"/>
      </a:hlink>
      <a:folHlink>
        <a:srgbClr val="6D2E46"/>
      </a:folHlink>
    </a:clrScheme>
    <a:fontScheme name="Snake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2744</Words>
  <Application>Microsoft Office PowerPoint</Application>
  <PresentationFormat>Widescreen</PresentationFormat>
  <Paragraphs>391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Cambria Math</vt:lpstr>
      <vt:lpstr>SnakeGuard</vt:lpstr>
      <vt:lpstr>SnakeGuard</vt:lpstr>
      <vt:lpstr>Why SnakeGuard</vt:lpstr>
      <vt:lpstr>Clear Objectives</vt:lpstr>
      <vt:lpstr>Aim: detect, explain, validate</vt:lpstr>
      <vt:lpstr>Specific objectives</vt:lpstr>
      <vt:lpstr>Research questions</vt:lpstr>
      <vt:lpstr>Scope and division of work</vt:lpstr>
      <vt:lpstr>Dataset Selection &amp; Understanding</vt:lpstr>
      <vt:lpstr>Selection: requirements and why a composite dataset</vt:lpstr>
      <vt:lpstr>Classes and composition</vt:lpstr>
      <vt:lpstr>What the classes look like</vt:lpstr>
      <vt:lpstr>Splits and annotation format</vt:lpstr>
      <vt:lpstr>Understanding the data</vt:lpstr>
      <vt:lpstr>Data quality audit</vt:lpstr>
      <vt:lpstr>Complete Methodology</vt:lpstr>
      <vt:lpstr>System pipeline</vt:lpstr>
      <vt:lpstr>Detection model: YOLO11n</vt:lpstr>
      <vt:lpstr>What is being explained: the target score</vt:lpstr>
      <vt:lpstr>Explanation methods: three independent families</vt:lpstr>
      <vt:lpstr>Multi-scale fusion</vt:lpstr>
      <vt:lpstr>Evaluation protocol: six axes</vt:lpstr>
      <vt:lpstr>Hard cases and explanation-based check</vt:lpstr>
      <vt:lpstr>Runtime pipeline</vt:lpstr>
      <vt:lpstr>Work plan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SnakeGuard – Review 2</dc:title>
  <dc:subject>PptxGenJS Presentation</dc:subject>
  <dc:creator>SnakeGuard team</dc:creator>
  <cp:lastModifiedBy>Infiniteaniverse@outlook.com</cp:lastModifiedBy>
  <cp:revision>2</cp:revision>
  <dcterms:created xsi:type="dcterms:W3CDTF">2026-10-14T17:18:17Z</dcterms:created>
  <dcterms:modified xsi:type="dcterms:W3CDTF">2026-10-15T04:21:16Z</dcterms:modified>
</cp:coreProperties>
</file>